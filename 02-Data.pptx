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328" r:id="rId2"/>
    <p:sldId id="347" r:id="rId3"/>
    <p:sldId id="278" r:id="rId4"/>
    <p:sldId id="329" r:id="rId5"/>
    <p:sldId id="308" r:id="rId6"/>
    <p:sldId id="330" r:id="rId7"/>
    <p:sldId id="336" r:id="rId8"/>
    <p:sldId id="337" r:id="rId9"/>
    <p:sldId id="331" r:id="rId10"/>
    <p:sldId id="338" r:id="rId11"/>
    <p:sldId id="345" r:id="rId12"/>
    <p:sldId id="346" r:id="rId13"/>
    <p:sldId id="340" r:id="rId14"/>
    <p:sldId id="341" r:id="rId15"/>
    <p:sldId id="342" r:id="rId16"/>
    <p:sldId id="350" r:id="rId17"/>
    <p:sldId id="313" r:id="rId18"/>
    <p:sldId id="353" r:id="rId19"/>
    <p:sldId id="322" r:id="rId20"/>
    <p:sldId id="321" r:id="rId21"/>
    <p:sldId id="332" r:id="rId22"/>
    <p:sldId id="348" r:id="rId23"/>
    <p:sldId id="325" r:id="rId24"/>
    <p:sldId id="349" r:id="rId25"/>
    <p:sldId id="326" r:id="rId26"/>
    <p:sldId id="327" r:id="rId27"/>
    <p:sldId id="333" r:id="rId28"/>
    <p:sldId id="351" r:id="rId29"/>
    <p:sldId id="307" r:id="rId30"/>
    <p:sldId id="354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SimHei" panose="02010609060101010101" pitchFamily="49" charset="-122"/>
      <p:regular r:id="rId38"/>
    </p:embeddedFont>
  </p:embeddedFontLst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5D4D"/>
    <a:srgbClr val="157F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/>
    <p:restoredTop sz="96141"/>
  </p:normalViewPr>
  <p:slideViewPr>
    <p:cSldViewPr snapToGrid="0" snapToObjects="1">
      <p:cViewPr varScale="1">
        <p:scale>
          <a:sx n="139" d="100"/>
          <a:sy n="139" d="100"/>
        </p:scale>
        <p:origin x="16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2026/9/16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2234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96E5-2F61-4FAC-A764-23A15F13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A7874-5159-7645-FCBC-C50140BC5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2BD00-DA3A-611C-6FD6-4FDDD2DD6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5B9DA-B674-259A-B9C2-82B9AF417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2317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3492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19B4-23B1-C3E4-5736-EEC8C9D6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33EBF-2A63-1F5F-D992-BE6F1DF4B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7FCC3-AF6D-072E-7525-9C55883A4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EB33E-F499-43C3-EEE5-390315356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4365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9741-EFB4-1382-2D8C-155C3381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F1442-4D29-8BD1-80C8-35DC42A43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64B9A-DEFA-3C60-ABCD-418B01D50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2019F-E5FE-1748-41B8-998A911CC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572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7B51E-AFE5-2D95-E6BC-50F2B645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226F-C351-515D-37B6-FBFEEE4D1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1E968-75FB-7E3D-C8EC-60A2DD058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F7D1D-FE88-58B7-49D8-C33408C02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2189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2762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707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89EB-3B73-CCEE-2166-8F15F7B1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4658D-6FD8-EFCA-8390-3DA7ADC1C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A45CA-2DE5-37F2-1C17-92D24F9B2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F3299-8F65-72CA-29BB-263B7FFB0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0174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341B-065B-FBB9-F720-C9BE3905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5353F-09B1-3D3E-BA77-D0D62ED8A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2DA6C-2A75-C119-2CAA-43B8634F1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问老师要说什么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B8B15-CC32-6705-21D8-D397C406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8957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454-CBC5-0844-8E76-C6E28BA84909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6404-DCAA-A44D-9657-B605F185714F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B659-EDE0-AD4D-9A19-F97575D3A86B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7E15-EF90-A04C-9E8D-7D87F5B3144A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5F99-32E8-AE48-9E4E-C28EA4F528EC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6F4D-5BFF-3547-AC37-787533AFDFEE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F076-A352-7F4B-AE9D-7D5DD7B99B48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F480-957E-A74F-87D5-CE10A0880AFC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01469-409E-374F-A2C0-11933171BF7B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FEA7-8E1E-3748-B5F1-ACBF6673B8E4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FD00C-90CD-4E48-A64B-1F5FC61CCF5A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A9B15-69A7-A145-AC80-8CA66F579BF2}" type="datetime1">
              <a:rPr lang="en-US" altLang="zh-CN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hyperlink" Target="https://github.com/vwOvOwv/2026Fall-ICS-TA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izardzines.com/comics/hexadecim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pythontutor.com/c.html#mode=edit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memory-spy.wizardzines.com/game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memory-spy.wizardzines.com/game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s://kernelpath.vercel.app/module/t0-04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hyperlink" Target="https://thesis.laszlokorte.de/demo/number-circle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4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hyperlink" Target="https://float.exposed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integer-operation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loating-operation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6ED67C-15D9-8005-6EA5-D82C5E4711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56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A06C44D-EF52-3E45-B5A7-9F0C333C3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450" y="1785688"/>
            <a:ext cx="5044076" cy="708354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Introduction to Computer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CC64B-AD48-88DB-9C61-0EA64AE80924}"/>
              </a:ext>
            </a:extLst>
          </p:cNvPr>
          <p:cNvSpPr txBox="1"/>
          <p:nvPr/>
        </p:nvSpPr>
        <p:spPr>
          <a:xfrm>
            <a:off x="490450" y="785356"/>
            <a:ext cx="69172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5400" b="1" dirty="0">
                <a:latin typeface="Arial" panose="020B0604020202020204" pitchFamily="34" charset="0"/>
                <a:cs typeface="Arial" panose="020B0604020202020204" pitchFamily="34" charset="0"/>
              </a:rPr>
              <a:t>Data Representation</a:t>
            </a:r>
            <a:endParaRPr kumimoji="1" lang="zh-CN" altLang="en-US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20123-038F-2AF6-DF4C-E29E5F94779D}"/>
              </a:ext>
            </a:extLst>
          </p:cNvPr>
          <p:cNvSpPr txBox="1"/>
          <p:nvPr/>
        </p:nvSpPr>
        <p:spPr>
          <a:xfrm>
            <a:off x="490450" y="2452771"/>
            <a:ext cx="2170787" cy="958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2026 Fall @ PKU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Section 2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phic 11">
            <a:hlinkClick r:id="rId4"/>
            <a:extLst>
              <a:ext uri="{FF2B5EF4-FFF2-40B4-BE49-F238E27FC236}">
                <a16:creationId xmlns:a16="http://schemas.microsoft.com/office/drawing/2014/main" id="{B014E7C2-46EE-A3F1-EC82-D46C1F93F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1103" y="6357157"/>
            <a:ext cx="385849" cy="38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5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51EA-B714-C95A-1383-FB9CD4D0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5E7C40-142E-977F-30E5-8DE5C31336E4}"/>
              </a:ext>
            </a:extLst>
          </p:cNvPr>
          <p:cNvSpPr txBox="1"/>
          <p:nvPr/>
        </p:nvSpPr>
        <p:spPr>
          <a:xfrm>
            <a:off x="2621227" y="301315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重要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D795D-B0A9-79B4-F777-3A549B5516C1}"/>
              </a:ext>
            </a:extLst>
          </p:cNvPr>
          <p:cNvSpPr txBox="1"/>
          <p:nvPr/>
        </p:nvSpPr>
        <p:spPr>
          <a:xfrm>
            <a:off x="4592961" y="3013154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讨论</a:t>
            </a:r>
            <a:r>
              <a:rPr kumimoji="1" lang="en-US" altLang="zh-CN" sz="2800" dirty="0">
                <a:solidFill>
                  <a:schemeClr val="accent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kumimoji="1" lang="zh-CN" altLang="en-US" sz="2800" dirty="0">
                <a:solidFill>
                  <a:schemeClr val="accent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问答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B191B-05AD-8B28-FFED-4D60D7B2CA7B}"/>
              </a:ext>
            </a:extLst>
          </p:cNvPr>
          <p:cNvSpPr txBox="1"/>
          <p:nvPr/>
        </p:nvSpPr>
        <p:spPr>
          <a:xfrm>
            <a:off x="7462377" y="3013154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int main()</a:t>
            </a:r>
            <a:endParaRPr kumimoji="1" lang="zh-CN" altLang="en-US" sz="2800" dirty="0"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468A2-B187-600C-130B-A0D0D2932B6A}"/>
              </a:ext>
            </a:extLst>
          </p:cNvPr>
          <p:cNvSpPr txBox="1"/>
          <p:nvPr/>
        </p:nvSpPr>
        <p:spPr>
          <a:xfrm>
            <a:off x="10687660" y="301315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accent3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补充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426E4-515D-DA1A-96CA-9CBE70F0CDEA}"/>
              </a:ext>
            </a:extLst>
          </p:cNvPr>
          <p:cNvSpPr txBox="1"/>
          <p:nvPr/>
        </p:nvSpPr>
        <p:spPr>
          <a:xfrm>
            <a:off x="649493" y="301315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常规</a:t>
            </a:r>
          </a:p>
        </p:txBody>
      </p:sp>
    </p:spTree>
    <p:extLst>
      <p:ext uri="{BB962C8B-B14F-4D97-AF65-F5344CB8AC3E}">
        <p14:creationId xmlns:p14="http://schemas.microsoft.com/office/powerpoint/2010/main" val="139553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关于</a:t>
            </a:r>
            <a:r>
              <a:rPr kumimoji="1" lang="en-US" altLang="zh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Data</a:t>
            </a:r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Lab</a:t>
            </a:r>
            <a:endParaRPr kumimoji="1" lang="zh-CN" altLang="en-US" sz="3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932D73-D5E5-1046-90D2-6CF20323D767}"/>
              </a:ext>
            </a:extLst>
          </p:cNvPr>
          <p:cNvSpPr txBox="1"/>
          <p:nvPr/>
        </p:nvSpPr>
        <p:spPr>
          <a:xfrm>
            <a:off x="378372" y="1429407"/>
            <a:ext cx="4679486" cy="3362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难度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部分题目技巧性强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第一次做（可能）会比较痛苦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和后面的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lab 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风格不太一样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提醒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Deadline: 09.28 8:00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，不要卡点提交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注意提交次数，</a:t>
            </a:r>
            <a:r>
              <a:rPr kumimoji="1" lang="en-US" altLang="zh-CN" dirty="0" err="1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driver.pl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跑过了再交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格式问题，该写的注释要写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87286-5BB7-F24A-AB9D-E4B302F6B06A}"/>
              </a:ext>
            </a:extLst>
          </p:cNvPr>
          <p:cNvSpPr txBox="1"/>
          <p:nvPr/>
        </p:nvSpPr>
        <p:spPr>
          <a:xfrm>
            <a:off x="5717628" y="1429407"/>
            <a:ext cx="6096000" cy="1700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一些建议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没必要卷性能（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ops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），可读性也很重要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多用用提供的测试工具，看看错误样例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实在不会可以找助教讨论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9B6CB-49DE-1F42-91DC-E2ADEE3A9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1529519"/>
            <a:ext cx="40005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8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3E8CB-CECF-92ED-6719-5A59B44F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58BE1-FCEA-CEA2-E20F-1B434436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422" y="823991"/>
            <a:ext cx="5683156" cy="521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0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D6F2-B3AE-1EFC-4071-5C6C1D2D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F559C4-15E0-66D8-9E3B-6B8BA47046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56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872793-2C6F-33F3-5C57-5DA95988EF29}"/>
              </a:ext>
            </a:extLst>
          </p:cNvPr>
          <p:cNvSpPr txBox="1"/>
          <p:nvPr/>
        </p:nvSpPr>
        <p:spPr>
          <a:xfrm>
            <a:off x="473825" y="2809391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位模式的表示和运算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BE7E6-3C86-E057-AFC6-B48D60E44982}"/>
              </a:ext>
            </a:extLst>
          </p:cNvPr>
          <p:cNvSpPr txBox="1"/>
          <p:nvPr/>
        </p:nvSpPr>
        <p:spPr>
          <a:xfrm>
            <a:off x="473825" y="364038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进制转换、位运算与逻辑运算</a:t>
            </a:r>
          </a:p>
        </p:txBody>
      </p:sp>
    </p:spTree>
    <p:extLst>
      <p:ext uri="{BB962C8B-B14F-4D97-AF65-F5344CB8AC3E}">
        <p14:creationId xmlns:p14="http://schemas.microsoft.com/office/powerpoint/2010/main" val="287025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4833-7A94-3DA1-9DE0-A50DA09B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9212A-E543-C570-9580-77ED6684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6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752EF-FBE7-CEB5-5806-FCF725A38E2E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位模式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71E39-957D-71A2-D7F9-6ACADA8C448A}"/>
              </a:ext>
            </a:extLst>
          </p:cNvPr>
          <p:cNvSpPr txBox="1"/>
          <p:nvPr/>
        </p:nvSpPr>
        <p:spPr>
          <a:xfrm>
            <a:off x="268437" y="1232876"/>
            <a:ext cx="6797381" cy="2116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位：也叫比特（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bit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），即一个二进制位（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0/1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和高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低电平（电压）存在对应关系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位是对物理电压状态的表示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位模式：位组成的序列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怎么表示位模式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3" name="Picture 2" descr="Image of a comic. To read the full HTML alt text, click &quot;read the transcript&quot;.">
            <a:extLst>
              <a:ext uri="{FF2B5EF4-FFF2-40B4-BE49-F238E27FC236}">
                <a16:creationId xmlns:a16="http://schemas.microsoft.com/office/drawing/2014/main" id="{F8CC578E-70BE-AF8E-0B15-6C655ED62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185" y="93484"/>
            <a:ext cx="10055629" cy="651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817C1B-F7DB-F12C-EE94-0B876D685629}"/>
              </a:ext>
            </a:extLst>
          </p:cNvPr>
          <p:cNvSpPr txBox="1"/>
          <p:nvPr/>
        </p:nvSpPr>
        <p:spPr>
          <a:xfrm>
            <a:off x="3047307" y="6367660"/>
            <a:ext cx="6097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https://wizardzines.com/comics/hexadecimal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841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FFC4-D6D4-2F74-AFCD-FAAA16334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y do Programmers confuse between Halloween and Christmas? | programmer-memes, program-memes | ProgrammerHumor.io">
            <a:extLst>
              <a:ext uri="{FF2B5EF4-FFF2-40B4-BE49-F238E27FC236}">
                <a16:creationId xmlns:a16="http://schemas.microsoft.com/office/drawing/2014/main" id="{570D9F2B-7D3B-2DD5-E05D-C5C487B62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654050"/>
            <a:ext cx="7645400" cy="554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04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7780-E44F-228E-CBC6-D67113A49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27C15-079D-F259-3880-E8481AFD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2E5005-1120-BABE-3E77-2D69B667AE7D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位模式的运算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A9BE59-7E81-627A-43FE-CD2602E01A8D}"/>
                  </a:ext>
                </a:extLst>
              </p:cNvPr>
              <p:cNvSpPr txBox="1"/>
              <p:nvPr/>
            </p:nvSpPr>
            <p:spPr>
              <a:xfrm>
                <a:off x="268437" y="1232876"/>
                <a:ext cx="6797381" cy="5029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位运算：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直接操作位模式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	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&amp;, |, ~, ^, &lt;&lt;</a:t>
                </a:r>
                <a:r>
                  <a:rPr lang="zh-CN" altLang="en-US" dirty="0"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 和数据类型无关</a:t>
                </a:r>
                <a:endParaRPr lang="en-US" altLang="zh-CN" dirty="0">
                  <a:latin typeface="Consolas" panose="020B0609020204030204" pitchFamily="49" charset="0"/>
                  <a:ea typeface="SimHei" panose="02010609060101010101" pitchFamily="49" charset="-122"/>
                  <a:cs typeface="Consolas" panose="020B0609020204030204" pitchFamily="49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1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&gt;&gt;</a:t>
                </a:r>
                <a:r>
                  <a:rPr lang="zh-CN" altLang="en-US" dirty="0">
                    <a:solidFill>
                      <a:schemeClr val="accent1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 和数据类型是否有关？</a:t>
                </a:r>
                <a:endParaRPr lang="en-US" altLang="zh-CN" dirty="0">
                  <a:solidFill>
                    <a:schemeClr val="accent1"/>
                  </a:solidFill>
                  <a:latin typeface="Consolas" panose="020B0609020204030204" pitchFamily="49" charset="0"/>
                  <a:ea typeface="SimHei" panose="02010609060101010101" pitchFamily="49" charset="-122"/>
                  <a:cs typeface="Consolas" panose="020B0609020204030204" pitchFamily="49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CN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移位数</a:t>
                </a:r>
                <a:r>
                  <a:rPr kumimoji="1" lang="zh-CN" altLang="en-US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kumimoji="1" lang="zh-CN" altLang="en-US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超过</a:t>
                </a:r>
                <a:r>
                  <a:rPr kumimoji="1" lang="zh-CN" altLang="en-CN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位长</a:t>
                </a:r>
                <a:r>
                  <a:rPr kumimoji="1" lang="zh-CN" altLang="en-US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</a:rPr>
                      <m:t>𝑤</m:t>
                    </m:r>
                  </m:oMath>
                </a14:m>
                <a:r>
                  <a:rPr kumimoji="1" lang="zh-CN" altLang="en-US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？</a:t>
                </a:r>
                <a:r>
                  <a:rPr kumimoji="1" lang="en-US" altLang="zh-CN" dirty="0">
                    <a:solidFill>
                      <a:schemeClr val="accent5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C Tutor</a:t>
                </a:r>
                <a:endParaRPr kumimoji="1" lang="en-US" altLang="zh-CN" dirty="0">
                  <a:solidFill>
                    <a:schemeClr val="accent5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solidFill>
                      <a:schemeClr val="accent3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属于未定义行为</a:t>
                </a:r>
                <a:endParaRPr kumimoji="1" lang="en-US" altLang="zh-CN" dirty="0">
                  <a:solidFill>
                    <a:schemeClr val="accent3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solidFill>
                      <a:schemeClr val="accent3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不能根据 </a:t>
                </a:r>
                <a:r>
                  <a:rPr kumimoji="1" lang="en-US" altLang="zh-CN" dirty="0">
                    <a:solidFill>
                      <a:schemeClr val="accent3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CPU </a:t>
                </a:r>
                <a:r>
                  <a:rPr kumimoji="1" lang="zh-CN" altLang="en-US" dirty="0">
                    <a:solidFill>
                      <a:schemeClr val="accent3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实际行为推断 </a:t>
                </a:r>
                <a:r>
                  <a:rPr kumimoji="1" lang="en-US" altLang="zh-CN" dirty="0">
                    <a:solidFill>
                      <a:schemeClr val="accent3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C </a:t>
                </a:r>
                <a:r>
                  <a:rPr kumimoji="1" lang="zh-CN" altLang="en-US" dirty="0">
                    <a:solidFill>
                      <a:schemeClr val="accent3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语言语义</a:t>
                </a:r>
                <a:endParaRPr kumimoji="1" lang="en-US" altLang="zh-CN" dirty="0">
                  <a:solidFill>
                    <a:schemeClr val="accent3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accent1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1</a:t>
                </a:r>
                <a:r>
                  <a:rPr kumimoji="1" lang="zh-CN" altLang="en-US" dirty="0">
                    <a:solidFill>
                      <a:schemeClr val="accent1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solidFill>
                      <a:schemeClr val="accent1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&lt;&lt; 2 + 3 &lt;&lt; 4 == (1 &lt;&lt; 2) + (3 &lt;&lt; 4)?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不确定优先级的时候就加括号</a:t>
                </a:r>
                <a:r>
                  <a:rPr kumimoji="1" lang="en-US" altLang="zh-CN" dirty="0"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逻辑运算：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只看位模式是否为全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0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&amp;&amp;, ||, !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返回值类型为 </a:t>
                </a:r>
                <a:r>
                  <a:rPr kumimoji="1" lang="en-US" altLang="zh-CN" dirty="0"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int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dirty="0">
                    <a:solidFill>
                      <a:srgbClr val="FF0000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短路表达式</a:t>
                </a:r>
                <a:endParaRPr kumimoji="1" lang="en-US" altLang="zh-CN" dirty="0">
                  <a:solidFill>
                    <a:srgbClr val="FF0000"/>
                  </a:solidFill>
                  <a:latin typeface="Consolas" panose="020B0609020204030204" pitchFamily="49" charset="0"/>
                  <a:ea typeface="SimHei" panose="02010609060101010101" pitchFamily="49" charset="-122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A9BE59-7E81-627A-43FE-CD2602E01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7" y="1232876"/>
                <a:ext cx="6797381" cy="5029710"/>
              </a:xfrm>
              <a:prstGeom prst="rect">
                <a:avLst/>
              </a:prstGeom>
              <a:blipFill>
                <a:blip r:embed="rId3"/>
                <a:stretch>
                  <a:fillRect l="-560" b="-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9021EEA-8E3B-705D-470F-3D044FE0B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720" y="1232876"/>
            <a:ext cx="3743440" cy="19718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023323-71F6-2726-306D-ECBE56D9D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720" y="3542034"/>
            <a:ext cx="3930726" cy="280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4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A32E-1812-8595-D3F5-CE86B0BF1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6C8BA6-453B-D8AD-1E84-5704FB2738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56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48C3F0-E09D-AE92-B2BE-0E34F226B9CF}"/>
              </a:ext>
            </a:extLst>
          </p:cNvPr>
          <p:cNvSpPr txBox="1"/>
          <p:nvPr/>
        </p:nvSpPr>
        <p:spPr>
          <a:xfrm>
            <a:off x="473825" y="2809391"/>
            <a:ext cx="71288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信息 </a:t>
            </a:r>
            <a:r>
              <a:rPr kumimoji="1"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位模式 </a:t>
            </a:r>
            <a:r>
              <a:rPr kumimoji="1"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数据类型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CC6D8-69F9-3E9D-6884-289CF76D71F4}"/>
              </a:ext>
            </a:extLst>
          </p:cNvPr>
          <p:cNvSpPr txBox="1"/>
          <p:nvPr/>
        </p:nvSpPr>
        <p:spPr>
          <a:xfrm>
            <a:off x="473825" y="3640388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字符串、可执行代码、整型和浮点数的表示</a:t>
            </a:r>
          </a:p>
        </p:txBody>
      </p:sp>
    </p:spTree>
    <p:extLst>
      <p:ext uri="{BB962C8B-B14F-4D97-AF65-F5344CB8AC3E}">
        <p14:creationId xmlns:p14="http://schemas.microsoft.com/office/powerpoint/2010/main" val="2093516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C6C2-05D1-B560-1679-2438E6F6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B148-0A4B-EF22-2B9A-6898010E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443A3-3714-1D77-E39C-F4A3E1D41F20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数据类型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DDAD2-1826-9FF2-BD64-4F2A72E6AC73}"/>
              </a:ext>
            </a:extLst>
          </p:cNvPr>
          <p:cNvSpPr txBox="1"/>
          <p:nvPr/>
        </p:nvSpPr>
        <p:spPr>
          <a:xfrm>
            <a:off x="279455" y="1232876"/>
            <a:ext cx="6797381" cy="544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规定如何解读位模式</a:t>
            </a:r>
            <a:r>
              <a:rPr kumimoji="1" lang="en-US" altLang="zh-CN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电压状态</a:t>
            </a:r>
            <a:endParaRPr kumimoji="1" lang="en-US" altLang="zh-CN" dirty="0"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同一个位模式在不同数据类型中有不同含义：</a:t>
            </a:r>
            <a:r>
              <a:rPr kumimoji="1"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Memory Spy</a:t>
            </a: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44CF3-3F1E-EDE6-E01D-72FA2C8AA7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582" b="20847"/>
          <a:stretch/>
        </p:blipFill>
        <p:spPr>
          <a:xfrm>
            <a:off x="288758" y="1757019"/>
            <a:ext cx="6201252" cy="4234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19C7C8-1D5B-8C4D-B126-4A3B55DAC55A}"/>
              </a:ext>
            </a:extLst>
          </p:cNvPr>
          <p:cNvSpPr txBox="1"/>
          <p:nvPr/>
        </p:nvSpPr>
        <p:spPr>
          <a:xfrm>
            <a:off x="4572000" y="3809462"/>
            <a:ext cx="1918010" cy="3385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82DDFA-C8BD-06B8-853F-2077D01F86B0}"/>
              </a:ext>
            </a:extLst>
          </p:cNvPr>
          <p:cNvSpPr txBox="1"/>
          <p:nvPr/>
        </p:nvSpPr>
        <p:spPr>
          <a:xfrm>
            <a:off x="4572000" y="4809355"/>
            <a:ext cx="1918010" cy="338554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5D32EB-9783-33C4-661D-B75E4FBFD0FE}"/>
              </a:ext>
            </a:extLst>
          </p:cNvPr>
          <p:cNvSpPr txBox="1"/>
          <p:nvPr/>
        </p:nvSpPr>
        <p:spPr>
          <a:xfrm>
            <a:off x="326857" y="4163024"/>
            <a:ext cx="3300517" cy="64633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sz="3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4FA510-8DDF-AA4C-8D8B-AD80792959D4}"/>
              </a:ext>
            </a:extLst>
          </p:cNvPr>
          <p:cNvSpPr/>
          <p:nvPr/>
        </p:nvSpPr>
        <p:spPr>
          <a:xfrm>
            <a:off x="4572000" y="1865359"/>
            <a:ext cx="1818167" cy="946798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21D8F6-4A68-A380-3F86-1F0D79331E60}"/>
              </a:ext>
            </a:extLst>
          </p:cNvPr>
          <p:cNvCxnSpPr>
            <a:cxnSpLocks/>
          </p:cNvCxnSpPr>
          <p:nvPr/>
        </p:nvCxnSpPr>
        <p:spPr>
          <a:xfrm>
            <a:off x="6390167" y="2364913"/>
            <a:ext cx="9675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89BC64-25BF-9CAA-90F6-ABE3CE0E697F}"/>
              </a:ext>
            </a:extLst>
          </p:cNvPr>
          <p:cNvSpPr txBox="1"/>
          <p:nvPr/>
        </p:nvSpPr>
        <p:spPr>
          <a:xfrm>
            <a:off x="7332313" y="1926972"/>
            <a:ext cx="3679675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指 </a:t>
            </a:r>
            <a:r>
              <a:rPr kumimoji="1"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32/64</a:t>
            </a:r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位机器还是 </a:t>
            </a:r>
            <a:r>
              <a:rPr kumimoji="1"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32/64</a:t>
            </a:r>
            <a:r>
              <a:rPr kumimoji="1"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位程序？二者的关系是什么？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C000BE-3930-8CAA-4CC6-9D5853F327F1}"/>
              </a:ext>
            </a:extLst>
          </p:cNvPr>
          <p:cNvCxnSpPr>
            <a:cxnSpLocks/>
          </p:cNvCxnSpPr>
          <p:nvPr/>
        </p:nvCxnSpPr>
        <p:spPr>
          <a:xfrm>
            <a:off x="6492489" y="5008303"/>
            <a:ext cx="9675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8AA996-0E8F-1A33-3CFF-9AC209064BA9}"/>
              </a:ext>
            </a:extLst>
          </p:cNvPr>
          <p:cNvSpPr txBox="1"/>
          <p:nvPr/>
        </p:nvSpPr>
        <p:spPr>
          <a:xfrm>
            <a:off x="7434636" y="4719426"/>
            <a:ext cx="1632246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指针是什么？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F56E1A-73B8-E378-3167-B02CEEB01461}"/>
              </a:ext>
            </a:extLst>
          </p:cNvPr>
          <p:cNvSpPr txBox="1"/>
          <p:nvPr/>
        </p:nvSpPr>
        <p:spPr>
          <a:xfrm>
            <a:off x="7447489" y="5475108"/>
            <a:ext cx="20587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int x = 65;</a:t>
            </a:r>
          </a:p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char c = 'A';</a:t>
            </a:r>
          </a:p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char s[] = "A";</a:t>
            </a:r>
          </a:p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int *p = &amp;x;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8B830D4E-258A-C898-5B84-5BB83AE082D4}"/>
              </a:ext>
            </a:extLst>
          </p:cNvPr>
          <p:cNvSpPr/>
          <p:nvPr/>
        </p:nvSpPr>
        <p:spPr>
          <a:xfrm>
            <a:off x="6691745" y="2812157"/>
            <a:ext cx="156065" cy="2335752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7D177C-E7DA-475C-B678-8C4951124743}"/>
              </a:ext>
            </a:extLst>
          </p:cNvPr>
          <p:cNvSpPr txBox="1"/>
          <p:nvPr/>
        </p:nvSpPr>
        <p:spPr>
          <a:xfrm>
            <a:off x="7023375" y="376964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统称为整型，</a:t>
            </a:r>
            <a:r>
              <a:rPr kumimoji="1" lang="zh-CN" altLang="en-CN" dirty="0">
                <a:latin typeface="SimHei" panose="02010609060101010101" pitchFamily="49" charset="-122"/>
                <a:ea typeface="SimHei" panose="02010609060101010101" pitchFamily="49" charset="-122"/>
              </a:rPr>
              <a:t>可以像整数一样</a:t>
            </a:r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进行运算</a:t>
            </a:r>
          </a:p>
        </p:txBody>
      </p:sp>
    </p:spTree>
    <p:extLst>
      <p:ext uri="{BB962C8B-B14F-4D97-AF65-F5344CB8AC3E}">
        <p14:creationId xmlns:p14="http://schemas.microsoft.com/office/powerpoint/2010/main" val="285678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4" grpId="0"/>
      <p:bldP spid="16" grpId="0"/>
      <p:bldP spid="22" grpId="0"/>
      <p:bldP spid="23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B4D8-2DD1-33B7-267E-CF9EE636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F1089-7CC3-5F2E-B039-56F62FE9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72053-26D4-A8E2-F173-DA34967BD1F6}"/>
              </a:ext>
            </a:extLst>
          </p:cNvPr>
          <p:cNvSpPr txBox="1"/>
          <p:nvPr/>
        </p:nvSpPr>
        <p:spPr>
          <a:xfrm>
            <a:off x="268438" y="648101"/>
            <a:ext cx="6947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字符</a:t>
            </a:r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的表示</a:t>
            </a:r>
            <a:r>
              <a:rPr kumimoji="1" lang="zh-CN" altLang="en-US" sz="3200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：和编程语言无直接关系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5B17B-E2F1-8A0F-8EBB-930137944E40}"/>
              </a:ext>
            </a:extLst>
          </p:cNvPr>
          <p:cNvSpPr txBox="1"/>
          <p:nvPr/>
        </p:nvSpPr>
        <p:spPr>
          <a:xfrm>
            <a:off x="268437" y="1232876"/>
            <a:ext cx="9091015" cy="54400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ASCII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：用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1 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个字节表示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个字符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Unicode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：另一种表示方式，包括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UTF-8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和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UTF-16 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等；对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ASCII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字符集保持兼容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E04D6-1CBB-D096-C226-D2344E53B5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9" t="39250" r="5798" b="29912"/>
          <a:stretch/>
        </p:blipFill>
        <p:spPr>
          <a:xfrm>
            <a:off x="1800023" y="1676292"/>
            <a:ext cx="8373292" cy="46192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525229-8E2F-8427-B121-6C16AC3B9C06}"/>
              </a:ext>
            </a:extLst>
          </p:cNvPr>
          <p:cNvSpPr/>
          <p:nvPr/>
        </p:nvSpPr>
        <p:spPr>
          <a:xfrm>
            <a:off x="2919470" y="5111827"/>
            <a:ext cx="672029" cy="2644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33232-DE5C-8794-7F9C-46CACB94EE91}"/>
              </a:ext>
            </a:extLst>
          </p:cNvPr>
          <p:cNvSpPr/>
          <p:nvPr/>
        </p:nvSpPr>
        <p:spPr>
          <a:xfrm>
            <a:off x="1811039" y="3677462"/>
            <a:ext cx="672029" cy="2644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BF7FBB-6ABD-19C3-600B-5E8123536C96}"/>
              </a:ext>
            </a:extLst>
          </p:cNvPr>
          <p:cNvSpPr/>
          <p:nvPr/>
        </p:nvSpPr>
        <p:spPr>
          <a:xfrm>
            <a:off x="2919469" y="4170448"/>
            <a:ext cx="672029" cy="2644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A5AAC0-E080-6E50-C62D-91389F85BA7D}"/>
              </a:ext>
            </a:extLst>
          </p:cNvPr>
          <p:cNvSpPr/>
          <p:nvPr/>
        </p:nvSpPr>
        <p:spPr>
          <a:xfrm>
            <a:off x="1811039" y="3215759"/>
            <a:ext cx="672029" cy="26440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DD9F4-60AB-C28E-F4FE-1ECD4C4FE6BC}"/>
              </a:ext>
            </a:extLst>
          </p:cNvPr>
          <p:cNvSpPr/>
          <p:nvPr/>
        </p:nvSpPr>
        <p:spPr>
          <a:xfrm>
            <a:off x="1811039" y="2266512"/>
            <a:ext cx="833009" cy="26440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EFD680-7E1C-D946-445F-571A0D6423B6}"/>
              </a:ext>
            </a:extLst>
          </p:cNvPr>
          <p:cNvSpPr/>
          <p:nvPr/>
        </p:nvSpPr>
        <p:spPr>
          <a:xfrm>
            <a:off x="9333723" y="5827923"/>
            <a:ext cx="757728" cy="271413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382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4" grpId="0" animBg="1"/>
      <p:bldP spid="5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7C048-325E-D74C-C119-02E01958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7C33-1D17-A2E9-B56A-1CEBAEBA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79049-1ADC-EC05-FF78-9E59AA011D2D}"/>
              </a:ext>
            </a:extLst>
          </p:cNvPr>
          <p:cNvSpPr txBox="1"/>
          <p:nvPr/>
        </p:nvSpPr>
        <p:spPr>
          <a:xfrm>
            <a:off x="268437" y="648101"/>
            <a:ext cx="76637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 </a:t>
            </a:r>
            <a:r>
              <a:rPr kumimoji="1" lang="zh-CN" altLang="en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字符</a:t>
            </a:r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串的表示</a:t>
            </a:r>
            <a:endParaRPr kumimoji="1" lang="zh-CN" altLang="en-US" sz="3200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3A060-4235-0407-93B5-F77C5775C3EE}"/>
              </a:ext>
            </a:extLst>
          </p:cNvPr>
          <p:cNvSpPr txBox="1"/>
          <p:nvPr/>
        </p:nvSpPr>
        <p:spPr>
          <a:xfrm>
            <a:off x="268437" y="1232876"/>
            <a:ext cx="3939925" cy="874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以 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‘\0’ (0x00, null)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结尾的字符序列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sizeof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与 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strlen</a:t>
            </a:r>
            <a:r>
              <a:rPr kumimoji="1" lang="zh-CN" altLang="en-US" dirty="0">
                <a:solidFill>
                  <a:schemeClr val="accent3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：</a:t>
            </a:r>
            <a:r>
              <a:rPr kumimoji="1" lang="en-US" altLang="zh-CN" dirty="0">
                <a:solidFill>
                  <a:schemeClr val="accent5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Memory Spy</a:t>
            </a:r>
            <a:endParaRPr kumimoji="1" lang="en-US" altLang="zh-CN" dirty="0">
              <a:solidFill>
                <a:schemeClr val="accent5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C6BDE1-6ACA-DF10-2178-528C6F41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62" y="2251075"/>
            <a:ext cx="36703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52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72B5F-CC22-911B-AB0A-5E129EF8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71FD9-3B83-175D-9790-0D4B57D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13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9D40B-9F7C-2848-5BF5-C5EF47B1D2C4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可执行代码的表示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370D6A-DC5C-9C5F-0126-8AEC83DE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72" b="21280"/>
          <a:stretch>
            <a:fillRect/>
          </a:stretch>
        </p:blipFill>
        <p:spPr>
          <a:xfrm>
            <a:off x="427821" y="1255923"/>
            <a:ext cx="11336357" cy="24787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87523-C81D-93E8-0104-603FF8B2FA47}"/>
              </a:ext>
            </a:extLst>
          </p:cNvPr>
          <p:cNvSpPr txBox="1"/>
          <p:nvPr/>
        </p:nvSpPr>
        <p:spPr>
          <a:xfrm>
            <a:off x="268438" y="4055045"/>
            <a:ext cx="8321509" cy="875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编译系统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按照特定规则将源代码翻译成机器码（字节序列），本质仍是位模式</a:t>
            </a:r>
            <a:endParaRPr kumimoji="1" lang="en-US" altLang="zh-CN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这一过程和与指令集与机器类型高度相关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Chap. 3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75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304DA-08AE-C19D-F9A8-A36F9577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A4E3-8453-ED8F-7686-76DD67A1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14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D98FA6-1BFE-89D2-D201-2623CC6AA0FE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整型的表示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BAB007-E451-54E4-A886-DC7AD3DFF16A}"/>
              </a:ext>
            </a:extLst>
          </p:cNvPr>
          <p:cNvSpPr/>
          <p:nvPr/>
        </p:nvSpPr>
        <p:spPr>
          <a:xfrm>
            <a:off x="3942732" y="1672504"/>
            <a:ext cx="758476" cy="4037419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47DC93-944E-1D3A-ABDA-DD9F3C7E917B}"/>
              </a:ext>
            </a:extLst>
          </p:cNvPr>
          <p:cNvSpPr/>
          <p:nvPr/>
        </p:nvSpPr>
        <p:spPr>
          <a:xfrm>
            <a:off x="1900226" y="1672504"/>
            <a:ext cx="758476" cy="40310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400DA-39E3-9FF6-A73E-66764A3EB275}"/>
              </a:ext>
            </a:extLst>
          </p:cNvPr>
          <p:cNvSpPr txBox="1"/>
          <p:nvPr/>
        </p:nvSpPr>
        <p:spPr>
          <a:xfrm>
            <a:off x="813131" y="5317615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r>
              <a:rPr kumimoji="1" lang="en-US" altLang="zh-CN" dirty="0"/>
              <a:t>00…000</a:t>
            </a:r>
            <a:endParaRPr kumimoji="1"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28D4F-81B3-A482-A2B3-FF7AF4B73A04}"/>
              </a:ext>
            </a:extLst>
          </p:cNvPr>
          <p:cNvSpPr txBox="1"/>
          <p:nvPr/>
        </p:nvSpPr>
        <p:spPr>
          <a:xfrm>
            <a:off x="813132" y="390509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r>
              <a:rPr kumimoji="1" lang="en-US" altLang="zh-CN" dirty="0"/>
              <a:t>11…111</a:t>
            </a:r>
            <a:endParaRPr kumimoji="1"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482BBD-D222-E6CD-8CF6-A5219A685FE5}"/>
              </a:ext>
            </a:extLst>
          </p:cNvPr>
          <p:cNvSpPr txBox="1"/>
          <p:nvPr/>
        </p:nvSpPr>
        <p:spPr>
          <a:xfrm>
            <a:off x="813131" y="1602261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011…111</a:t>
            </a:r>
            <a:endParaRPr kumimoji="1" lang="zh-CN" alt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8C8F56-072E-504D-833E-15148762FD24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335871" y="4980689"/>
            <a:ext cx="0" cy="336926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804E5D-F6F7-2E96-309E-1E6A7A6CFF00}"/>
              </a:ext>
            </a:extLst>
          </p:cNvPr>
          <p:cNvSpPr txBox="1"/>
          <p:nvPr/>
        </p:nvSpPr>
        <p:spPr>
          <a:xfrm>
            <a:off x="1335868" y="496448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A2E0E0-2510-6828-4B19-A8F029CC28E2}"/>
              </a:ext>
            </a:extLst>
          </p:cNvPr>
          <p:cNvCxnSpPr/>
          <p:nvPr/>
        </p:nvCxnSpPr>
        <p:spPr>
          <a:xfrm flipH="1" flipV="1">
            <a:off x="1335870" y="4306836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7342E5D-182F-C7E7-F8C5-B8DE884BC23F}"/>
              </a:ext>
            </a:extLst>
          </p:cNvPr>
          <p:cNvSpPr txBox="1"/>
          <p:nvPr/>
        </p:nvSpPr>
        <p:spPr>
          <a:xfrm>
            <a:off x="1335868" y="4290633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B098DF-E0EF-78B7-E08B-EA248A7BCE6A}"/>
              </a:ext>
            </a:extLst>
          </p:cNvPr>
          <p:cNvCxnSpPr/>
          <p:nvPr/>
        </p:nvCxnSpPr>
        <p:spPr>
          <a:xfrm flipH="1" flipV="1">
            <a:off x="1335870" y="3568171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F6B7AF-DEFD-7EEC-F5C0-F14A7371FA51}"/>
              </a:ext>
            </a:extLst>
          </p:cNvPr>
          <p:cNvSpPr txBox="1"/>
          <p:nvPr/>
        </p:nvSpPr>
        <p:spPr>
          <a:xfrm>
            <a:off x="1335868" y="35519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9DD554-6818-B4CA-E6D8-6A9B66B1ABF1}"/>
              </a:ext>
            </a:extLst>
          </p:cNvPr>
          <p:cNvCxnSpPr/>
          <p:nvPr/>
        </p:nvCxnSpPr>
        <p:spPr>
          <a:xfrm flipH="1" flipV="1">
            <a:off x="1335870" y="2715910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71CB25-8316-0F9A-FC51-8DFC1AD808D9}"/>
              </a:ext>
            </a:extLst>
          </p:cNvPr>
          <p:cNvSpPr txBox="1"/>
          <p:nvPr/>
        </p:nvSpPr>
        <p:spPr>
          <a:xfrm>
            <a:off x="1335868" y="269970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EF0592-A967-C794-73F1-9E38289A3B39}"/>
              </a:ext>
            </a:extLst>
          </p:cNvPr>
          <p:cNvCxnSpPr/>
          <p:nvPr/>
        </p:nvCxnSpPr>
        <p:spPr>
          <a:xfrm flipH="1" flipV="1">
            <a:off x="1335870" y="1998416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6C1A7B-52CB-D0C6-3508-B8242CED7DD2}"/>
              </a:ext>
            </a:extLst>
          </p:cNvPr>
          <p:cNvSpPr txBox="1"/>
          <p:nvPr/>
        </p:nvSpPr>
        <p:spPr>
          <a:xfrm>
            <a:off x="1335868" y="1982213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AF998533-6A26-3E99-E36D-6F45F594503F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rot="16200000" flipH="1">
            <a:off x="-706472" y="3644604"/>
            <a:ext cx="4084686" cy="12700"/>
          </a:xfrm>
          <a:prstGeom prst="bentConnector5">
            <a:avLst>
              <a:gd name="adj1" fmla="val -5597"/>
              <a:gd name="adj2" fmla="val -5051386"/>
              <a:gd name="adj3" fmla="val 105597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54AB72-5705-59BA-A12C-F767A8D42435}"/>
              </a:ext>
            </a:extLst>
          </p:cNvPr>
          <p:cNvSpPr txBox="1"/>
          <p:nvPr/>
        </p:nvSpPr>
        <p:spPr>
          <a:xfrm>
            <a:off x="268438" y="338350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633BF4-F6BF-97F9-9162-6A197920924F}"/>
                  </a:ext>
                </a:extLst>
              </p:cNvPr>
              <p:cNvSpPr txBox="1"/>
              <p:nvPr/>
            </p:nvSpPr>
            <p:spPr>
              <a:xfrm>
                <a:off x="1900226" y="3912054"/>
                <a:ext cx="7584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633BF4-F6BF-97F9-9162-6A1979209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226" y="3912054"/>
                <a:ext cx="7584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43B8F1-47D7-B711-1F8B-87F5140F0045}"/>
                  </a:ext>
                </a:extLst>
              </p:cNvPr>
              <p:cNvSpPr txBox="1"/>
              <p:nvPr/>
            </p:nvSpPr>
            <p:spPr>
              <a:xfrm>
                <a:off x="1940300" y="3129023"/>
                <a:ext cx="718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43B8F1-47D7-B711-1F8B-87F5140F0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300" y="3129023"/>
                <a:ext cx="71840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3AE13C9F-83EF-99B5-5959-13A049399AC9}"/>
              </a:ext>
            </a:extLst>
          </p:cNvPr>
          <p:cNvSpPr txBox="1"/>
          <p:nvPr/>
        </p:nvSpPr>
        <p:spPr>
          <a:xfrm rot="5400000">
            <a:off x="1227800" y="464723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7F17CE-15F3-A625-2A40-36794A000615}"/>
              </a:ext>
            </a:extLst>
          </p:cNvPr>
          <p:cNvSpPr txBox="1"/>
          <p:nvPr/>
        </p:nvSpPr>
        <p:spPr>
          <a:xfrm>
            <a:off x="805982" y="3127824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000…000</a:t>
            </a:r>
            <a:endParaRPr kumimoji="1"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C68D6-7B2E-AEC9-E403-9236518C0232}"/>
              </a:ext>
            </a:extLst>
          </p:cNvPr>
          <p:cNvSpPr txBox="1"/>
          <p:nvPr/>
        </p:nvSpPr>
        <p:spPr>
          <a:xfrm rot="5400000">
            <a:off x="1227800" y="233292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C9DC68-3F01-25AB-5660-1730C725B64F}"/>
                  </a:ext>
                </a:extLst>
              </p:cNvPr>
              <p:cNvSpPr txBox="1"/>
              <p:nvPr/>
            </p:nvSpPr>
            <p:spPr>
              <a:xfrm>
                <a:off x="3974535" y="1672504"/>
                <a:ext cx="694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C9DC68-3F01-25AB-5660-1730C725B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535" y="1672504"/>
                <a:ext cx="69487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A3D83F-EE30-49AB-2CF8-29EB93A11DC3}"/>
                  </a:ext>
                </a:extLst>
              </p:cNvPr>
              <p:cNvSpPr txBox="1"/>
              <p:nvPr/>
            </p:nvSpPr>
            <p:spPr>
              <a:xfrm>
                <a:off x="3974535" y="5334240"/>
                <a:ext cx="6759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  <a:endParaRPr kumimoji="1" lang="en-US" altLang="zh-CN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A3D83F-EE30-49AB-2CF8-29EB93A11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535" y="5334240"/>
                <a:ext cx="67595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E1E2E0-CBBB-B527-31A5-715EE9FF4E31}"/>
                  </a:ext>
                </a:extLst>
              </p:cNvPr>
              <p:cNvSpPr txBox="1"/>
              <p:nvPr/>
            </p:nvSpPr>
            <p:spPr>
              <a:xfrm>
                <a:off x="4063042" y="3938190"/>
                <a:ext cx="538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i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zh-CN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E1E2E0-CBBB-B527-31A5-715EE9FF4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042" y="3938190"/>
                <a:ext cx="53893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F52B8C-319B-1A5E-27F8-1CE1D518604C}"/>
                  </a:ext>
                </a:extLst>
              </p:cNvPr>
              <p:cNvSpPr txBox="1"/>
              <p:nvPr/>
            </p:nvSpPr>
            <p:spPr>
              <a:xfrm>
                <a:off x="4162419" y="313665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en-US" altLang="zh-CN" b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F52B8C-319B-1A5E-27F8-1CE1D5186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419" y="3136653"/>
                <a:ext cx="3658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291548-C67F-4D8D-CD33-FCC9D9206CCA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>
          <a:xfrm>
            <a:off x="1900226" y="3688038"/>
            <a:ext cx="2800982" cy="317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Right Brace 30">
            <a:extLst>
              <a:ext uri="{FF2B5EF4-FFF2-40B4-BE49-F238E27FC236}">
                <a16:creationId xmlns:a16="http://schemas.microsoft.com/office/drawing/2014/main" id="{126D33C1-DE72-474A-B320-71591E19A8C8}"/>
              </a:ext>
            </a:extLst>
          </p:cNvPr>
          <p:cNvSpPr/>
          <p:nvPr/>
        </p:nvSpPr>
        <p:spPr>
          <a:xfrm>
            <a:off x="4779076" y="1704403"/>
            <a:ext cx="223284" cy="184127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AA64FC-C318-73F4-2778-C435563CF92E}"/>
              </a:ext>
            </a:extLst>
          </p:cNvPr>
          <p:cNvSpPr txBox="1"/>
          <p:nvPr/>
        </p:nvSpPr>
        <p:spPr>
          <a:xfrm>
            <a:off x="5080228" y="2440376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100…000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个数</a:t>
            </a: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C05B2662-B7C6-10C2-BB1E-4CE7B5D97C4A}"/>
              </a:ext>
            </a:extLst>
          </p:cNvPr>
          <p:cNvSpPr/>
          <p:nvPr/>
        </p:nvSpPr>
        <p:spPr>
          <a:xfrm>
            <a:off x="4802352" y="3881377"/>
            <a:ext cx="223284" cy="184127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3B0B-6700-3DF4-A1CA-96D3490A2C42}"/>
              </a:ext>
            </a:extLst>
          </p:cNvPr>
          <p:cNvSpPr txBox="1"/>
          <p:nvPr/>
        </p:nvSpPr>
        <p:spPr>
          <a:xfrm>
            <a:off x="5103504" y="4617350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100…000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个数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851D3CD-DB36-C2B6-EB14-21B29993B46F}"/>
              </a:ext>
            </a:extLst>
          </p:cNvPr>
          <p:cNvCxnSpPr>
            <a:cxnSpLocks/>
          </p:cNvCxnSpPr>
          <p:nvPr/>
        </p:nvCxnSpPr>
        <p:spPr>
          <a:xfrm>
            <a:off x="2822685" y="2705895"/>
            <a:ext cx="10100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3DBF973-FCE0-E24E-20CB-C698F1B08807}"/>
                  </a:ext>
                </a:extLst>
              </p:cNvPr>
              <p:cNvSpPr txBox="1"/>
              <p:nvPr/>
            </p:nvSpPr>
            <p:spPr>
              <a:xfrm>
                <a:off x="3122386" y="2347001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3DBF973-FCE0-E24E-20CB-C698F1B08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386" y="2347001"/>
                <a:ext cx="4106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311D65-58F9-B980-5414-77148811058D}"/>
              </a:ext>
            </a:extLst>
          </p:cNvPr>
          <p:cNvCxnSpPr>
            <a:cxnSpLocks/>
          </p:cNvCxnSpPr>
          <p:nvPr/>
        </p:nvCxnSpPr>
        <p:spPr>
          <a:xfrm>
            <a:off x="2795671" y="4791578"/>
            <a:ext cx="10100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8156C6-A28F-C9C3-7157-A74C857DD61D}"/>
                  </a:ext>
                </a:extLst>
              </p:cNvPr>
              <p:cNvSpPr txBox="1"/>
              <p:nvPr/>
            </p:nvSpPr>
            <p:spPr>
              <a:xfrm>
                <a:off x="3041960" y="4362535"/>
                <a:ext cx="517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</m:oMath>
                  </m:oMathPara>
                </a14:m>
                <a:endParaRPr kumimoji="1" lang="en-US" altLang="zh-CN" b="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8156C6-A28F-C9C3-7157-A74C857DD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960" y="4362535"/>
                <a:ext cx="51751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751533E-5ECA-1757-B608-4D4F772A7C15}"/>
                  </a:ext>
                </a:extLst>
              </p:cNvPr>
              <p:cNvSpPr txBox="1"/>
              <p:nvPr/>
            </p:nvSpPr>
            <p:spPr>
              <a:xfrm>
                <a:off x="1176579" y="5828325"/>
                <a:ext cx="220577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800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kumimoji="1" lang="en-US" altLang="zh-CN" sz="18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CN" sz="1800" b="0" i="1" dirty="0">
                  <a:solidFill>
                    <a:sysClr val="windowText" lastClr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8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kumimoji="1" lang="en-US" altLang="zh-CN" sz="18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  <m:r>
                        <a:rPr kumimoji="1" lang="en-US" altLang="zh-CN" sz="18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751533E-5ECA-1757-B608-4D4F772A7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579" y="5828325"/>
                <a:ext cx="2205770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9A05E0-6269-FBE0-A7DC-66EC5EFAEB73}"/>
                  </a:ext>
                </a:extLst>
              </p:cNvPr>
              <p:cNvSpPr txBox="1"/>
              <p:nvPr/>
            </p:nvSpPr>
            <p:spPr>
              <a:xfrm>
                <a:off x="3382349" y="5834676"/>
                <a:ext cx="195574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800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kumimoji="1" lang="en-US" altLang="zh-CN" sz="18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en-US" altLang="zh-CN" sz="1800" b="0" i="1" dirty="0">
                  <a:solidFill>
                    <a:sysClr val="windowText" lastClr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80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kumimoji="1" lang="en-US" altLang="zh-CN" sz="18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kumimoji="1" lang="en-US" altLang="zh-CN" sz="18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18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9A05E0-6269-FBE0-A7DC-66EC5EFAE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349" y="5834676"/>
                <a:ext cx="1955747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D0288BB6-A2D2-4765-EE22-870132EAA118}"/>
              </a:ext>
            </a:extLst>
          </p:cNvPr>
          <p:cNvSpPr txBox="1"/>
          <p:nvPr/>
        </p:nvSpPr>
        <p:spPr>
          <a:xfrm>
            <a:off x="7166366" y="1857170"/>
            <a:ext cx="3945624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有符号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整型（补码）</a:t>
            </a:r>
            <a:r>
              <a:rPr kumimoji="1"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和无符号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整型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遵循相同的代数结构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只是解读位模式的方式不同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回绕在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 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中属于未定义行为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反码和原码在代数结构上并不优雅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个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hlinkClick r:id="rId12"/>
              </a:rPr>
              <a:t>Number circle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hlinkClick r:id="rId13"/>
              </a:rPr>
              <a:t>Two’s Complement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01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1" grpId="0"/>
      <p:bldP spid="22" grpId="0"/>
      <p:bldP spid="26" grpId="0"/>
      <p:bldP spid="27" grpId="0"/>
      <p:bldP spid="28" grpId="0"/>
      <p:bldP spid="29" grpId="0"/>
      <p:bldP spid="31" grpId="0" animBg="1"/>
      <p:bldP spid="32" grpId="0"/>
      <p:bldP spid="33" grpId="0" animBg="1"/>
      <p:bldP spid="34" grpId="0"/>
      <p:bldP spid="36" grpId="0"/>
      <p:bldP spid="38" grpId="0"/>
      <p:bldP spid="40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2EA1-4BA8-760A-67E3-9EC1AC64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8627C-9E4F-9D5A-0244-1F3E5BE7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15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983A9-DC35-249A-B515-E2507F7E0309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浮点数的表示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FCF5E1-73DF-7E5D-6DF2-93A6BBF6976C}"/>
              </a:ext>
            </a:extLst>
          </p:cNvPr>
          <p:cNvSpPr txBox="1"/>
          <p:nvPr/>
        </p:nvSpPr>
        <p:spPr>
          <a:xfrm>
            <a:off x="268438" y="1284391"/>
            <a:ext cx="5734775" cy="4592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IEEE-754</a:t>
            </a:r>
            <a:r>
              <a:rPr kumimoji="1" lang="zh-CN" altLang="en-US" b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float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: 1 – 8 – 23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b="0" dirty="0">
                <a:solidFill>
                  <a:srgbClr val="FF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double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: 1 – 11 – 52</a:t>
            </a:r>
            <a:endParaRPr kumimoji="1" lang="en-US" altLang="zh-CN" b="0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02A95FE-EBD6-DBB0-F53F-21A4029D5551}"/>
              </a:ext>
            </a:extLst>
          </p:cNvPr>
          <p:cNvSpPr/>
          <p:nvPr/>
        </p:nvSpPr>
        <p:spPr>
          <a:xfrm>
            <a:off x="474133" y="1950655"/>
            <a:ext cx="11243733" cy="2429933"/>
          </a:xfrm>
          <a:prstGeom prst="roundRect">
            <a:avLst>
              <a:gd name="adj" fmla="val 6272"/>
            </a:avLst>
          </a:prstGeom>
          <a:solidFill>
            <a:srgbClr val="FFFFFF"/>
          </a:solidFill>
          <a:ln w="8467">
            <a:solidFill>
              <a:srgbClr val="DCE4ED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25A5EBC-40C1-E407-ACEB-A1D06911B4CD}"/>
              </a:ext>
            </a:extLst>
          </p:cNvPr>
          <p:cNvSpPr/>
          <p:nvPr/>
        </p:nvSpPr>
        <p:spPr>
          <a:xfrm>
            <a:off x="10244667" y="2179255"/>
            <a:ext cx="1227667" cy="313267"/>
          </a:xfrm>
          <a:prstGeom prst="roundRect">
            <a:avLst>
              <a:gd name="adj" fmla="val 21622"/>
            </a:avLst>
          </a:prstGeom>
          <a:solidFill>
            <a:srgbClr val="EEEFFC"/>
          </a:solidFill>
          <a:ln w="12700">
            <a:solidFill>
              <a:srgbClr val="EEEFFC">
                <a:alpha val="0"/>
              </a:srgbClr>
            </a:solidFill>
            <a:prstDash val="solid"/>
          </a:ln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18873A5-AF75-29E5-7895-8645DF952F33}"/>
              </a:ext>
            </a:extLst>
          </p:cNvPr>
          <p:cNvSpPr/>
          <p:nvPr/>
        </p:nvSpPr>
        <p:spPr>
          <a:xfrm>
            <a:off x="677333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F9EBE6"/>
          </a:solidFill>
          <a:ln w="8467">
            <a:solidFill>
              <a:srgbClr val="E5BFB5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C5445D7-9B56-7084-A759-5EEBB3E34E41}"/>
              </a:ext>
            </a:extLst>
          </p:cNvPr>
          <p:cNvSpPr/>
          <p:nvPr/>
        </p:nvSpPr>
        <p:spPr>
          <a:xfrm>
            <a:off x="11514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DDE0F9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F71C7B2-92FC-BF3A-D56F-C7EDFDCA30AA}"/>
              </a:ext>
            </a:extLst>
          </p:cNvPr>
          <p:cNvSpPr/>
          <p:nvPr/>
        </p:nvSpPr>
        <p:spPr>
          <a:xfrm>
            <a:off x="14816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EEFFC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5452C97-C3ED-DE54-D4F4-FBDDBF4D5967}"/>
              </a:ext>
            </a:extLst>
          </p:cNvPr>
          <p:cNvSpPr/>
          <p:nvPr/>
        </p:nvSpPr>
        <p:spPr>
          <a:xfrm>
            <a:off x="18118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EEFFC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33A29F02-3809-0BA6-17B0-15A2836E893D}"/>
              </a:ext>
            </a:extLst>
          </p:cNvPr>
          <p:cNvSpPr/>
          <p:nvPr/>
        </p:nvSpPr>
        <p:spPr>
          <a:xfrm>
            <a:off x="21420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EEFFC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BF9EC001-6D5A-7BF7-38FE-59991F3E23FE}"/>
              </a:ext>
            </a:extLst>
          </p:cNvPr>
          <p:cNvSpPr/>
          <p:nvPr/>
        </p:nvSpPr>
        <p:spPr>
          <a:xfrm>
            <a:off x="24722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EEFFC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1AB8CDBF-B301-DB34-CD64-BAE0911EAE20}"/>
              </a:ext>
            </a:extLst>
          </p:cNvPr>
          <p:cNvSpPr/>
          <p:nvPr/>
        </p:nvSpPr>
        <p:spPr>
          <a:xfrm>
            <a:off x="28024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EEFFC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2B46FE0-226D-B8B3-6D73-B1DBD40E50B7}"/>
              </a:ext>
            </a:extLst>
          </p:cNvPr>
          <p:cNvSpPr/>
          <p:nvPr/>
        </p:nvSpPr>
        <p:spPr>
          <a:xfrm>
            <a:off x="31326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EEFFC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0769F3CA-29FE-8DD3-F170-9F7576C873A6}"/>
              </a:ext>
            </a:extLst>
          </p:cNvPr>
          <p:cNvSpPr/>
          <p:nvPr/>
        </p:nvSpPr>
        <p:spPr>
          <a:xfrm>
            <a:off x="3462867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DDE0F9"/>
          </a:solidFill>
          <a:ln w="8467">
            <a:solidFill>
              <a:srgbClr val="D5D8F5"/>
            </a:solidFill>
            <a:prstDash val="solid"/>
          </a:ln>
        </p:spPr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8E3CAAB-3C6B-D23F-A9CF-59F21217C97F}"/>
              </a:ext>
            </a:extLst>
          </p:cNvPr>
          <p:cNvSpPr/>
          <p:nvPr/>
        </p:nvSpPr>
        <p:spPr>
          <a:xfrm>
            <a:off x="39370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C8E6DE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2CFD27F-71B3-602A-76D5-E1AD1AF067B7}"/>
              </a:ext>
            </a:extLst>
          </p:cNvPr>
          <p:cNvSpPr/>
          <p:nvPr/>
        </p:nvSpPr>
        <p:spPr>
          <a:xfrm>
            <a:off x="42672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64C9074-2DBA-DAA0-1627-374A7EDD08DD}"/>
              </a:ext>
            </a:extLst>
          </p:cNvPr>
          <p:cNvSpPr/>
          <p:nvPr/>
        </p:nvSpPr>
        <p:spPr>
          <a:xfrm>
            <a:off x="45974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C8E6DE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B0BFE67F-8959-4DCC-2794-FDA99BE37760}"/>
              </a:ext>
            </a:extLst>
          </p:cNvPr>
          <p:cNvSpPr/>
          <p:nvPr/>
        </p:nvSpPr>
        <p:spPr>
          <a:xfrm>
            <a:off x="49276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6D04D815-D479-3DE7-C18E-1EED668BB545}"/>
              </a:ext>
            </a:extLst>
          </p:cNvPr>
          <p:cNvSpPr/>
          <p:nvPr/>
        </p:nvSpPr>
        <p:spPr>
          <a:xfrm>
            <a:off x="52578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28E07A3A-FCED-4076-48E3-595DBCCD6F3B}"/>
              </a:ext>
            </a:extLst>
          </p:cNvPr>
          <p:cNvSpPr/>
          <p:nvPr/>
        </p:nvSpPr>
        <p:spPr>
          <a:xfrm>
            <a:off x="55880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DD5ECCA8-DEF7-5C0C-29E1-4080AD8254F1}"/>
              </a:ext>
            </a:extLst>
          </p:cNvPr>
          <p:cNvSpPr/>
          <p:nvPr/>
        </p:nvSpPr>
        <p:spPr>
          <a:xfrm>
            <a:off x="59182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02668DF7-9D2E-C82D-F3A5-1182E924D712}"/>
              </a:ext>
            </a:extLst>
          </p:cNvPr>
          <p:cNvSpPr/>
          <p:nvPr/>
        </p:nvSpPr>
        <p:spPr>
          <a:xfrm>
            <a:off x="62484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FF177900-7DF2-F2FF-67C6-51ABB764C01F}"/>
              </a:ext>
            </a:extLst>
          </p:cNvPr>
          <p:cNvSpPr/>
          <p:nvPr/>
        </p:nvSpPr>
        <p:spPr>
          <a:xfrm>
            <a:off x="65786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74237836-852C-85B6-B4B3-7F81E1BB0ADD}"/>
              </a:ext>
            </a:extLst>
          </p:cNvPr>
          <p:cNvSpPr/>
          <p:nvPr/>
        </p:nvSpPr>
        <p:spPr>
          <a:xfrm>
            <a:off x="69088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03832DFA-F6B6-E4E6-87FF-FD9120E04842}"/>
              </a:ext>
            </a:extLst>
          </p:cNvPr>
          <p:cNvSpPr/>
          <p:nvPr/>
        </p:nvSpPr>
        <p:spPr>
          <a:xfrm>
            <a:off x="72390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C74FA054-F0E3-153C-381D-923A965D82B5}"/>
              </a:ext>
            </a:extLst>
          </p:cNvPr>
          <p:cNvSpPr/>
          <p:nvPr/>
        </p:nvSpPr>
        <p:spPr>
          <a:xfrm>
            <a:off x="75692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BF16BA03-6D55-E354-FACD-95FFC35C8294}"/>
              </a:ext>
            </a:extLst>
          </p:cNvPr>
          <p:cNvSpPr/>
          <p:nvPr/>
        </p:nvSpPr>
        <p:spPr>
          <a:xfrm>
            <a:off x="78994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1EF9A487-63F9-ECB2-4532-B3F186CEFA5D}"/>
              </a:ext>
            </a:extLst>
          </p:cNvPr>
          <p:cNvSpPr/>
          <p:nvPr/>
        </p:nvSpPr>
        <p:spPr>
          <a:xfrm>
            <a:off x="82296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6FCA20A4-D70C-2C94-BDEB-B9474A359771}"/>
              </a:ext>
            </a:extLst>
          </p:cNvPr>
          <p:cNvSpPr/>
          <p:nvPr/>
        </p:nvSpPr>
        <p:spPr>
          <a:xfrm>
            <a:off x="85598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71F22F92-10E3-64DF-F0F9-E580047B8D10}"/>
              </a:ext>
            </a:extLst>
          </p:cNvPr>
          <p:cNvSpPr/>
          <p:nvPr/>
        </p:nvSpPr>
        <p:spPr>
          <a:xfrm>
            <a:off x="88900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84535E87-DF2E-A3C9-FD01-9A82D4EE4AB8}"/>
              </a:ext>
            </a:extLst>
          </p:cNvPr>
          <p:cNvSpPr/>
          <p:nvPr/>
        </p:nvSpPr>
        <p:spPr>
          <a:xfrm>
            <a:off x="92202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14CB7791-02F5-7D1F-1CB6-BC3F095653D0}"/>
              </a:ext>
            </a:extLst>
          </p:cNvPr>
          <p:cNvSpPr/>
          <p:nvPr/>
        </p:nvSpPr>
        <p:spPr>
          <a:xfrm>
            <a:off x="95504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76EBD6FA-76D1-F039-EE81-1352476B38DE}"/>
              </a:ext>
            </a:extLst>
          </p:cNvPr>
          <p:cNvSpPr/>
          <p:nvPr/>
        </p:nvSpPr>
        <p:spPr>
          <a:xfrm>
            <a:off x="98806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38E4591B-38B8-BDBE-472C-90CA94662077}"/>
              </a:ext>
            </a:extLst>
          </p:cNvPr>
          <p:cNvSpPr/>
          <p:nvPr/>
        </p:nvSpPr>
        <p:spPr>
          <a:xfrm>
            <a:off x="102108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FB6F1761-7AAC-6A09-A5D5-0BD005EA19AD}"/>
              </a:ext>
            </a:extLst>
          </p:cNvPr>
          <p:cNvSpPr/>
          <p:nvPr/>
        </p:nvSpPr>
        <p:spPr>
          <a:xfrm>
            <a:off x="105410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3456B40C-58BC-DE72-C33A-4178FA4793C3}"/>
              </a:ext>
            </a:extLst>
          </p:cNvPr>
          <p:cNvSpPr/>
          <p:nvPr/>
        </p:nvSpPr>
        <p:spPr>
          <a:xfrm>
            <a:off x="10871200" y="2924322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5FCB44E4-01BE-FA5C-1F36-3D03925CFB2F}"/>
              </a:ext>
            </a:extLst>
          </p:cNvPr>
          <p:cNvSpPr/>
          <p:nvPr/>
        </p:nvSpPr>
        <p:spPr>
          <a:xfrm>
            <a:off x="11201400" y="2923173"/>
            <a:ext cx="304800" cy="381000"/>
          </a:xfrm>
          <a:prstGeom prst="roundRect">
            <a:avLst>
              <a:gd name="adj" fmla="val 13889"/>
            </a:avLst>
          </a:prstGeom>
          <a:solidFill>
            <a:srgbClr val="E6F3F0"/>
          </a:solidFill>
          <a:ln w="8467">
            <a:solidFill>
              <a:srgbClr val="B9DCD7"/>
            </a:solidFill>
            <a:prstDash val="solid"/>
          </a:ln>
        </p:spPr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06963AB0-4F99-E090-58A4-5F9235E5E8F5}"/>
              </a:ext>
            </a:extLst>
          </p:cNvPr>
          <p:cNvSpPr/>
          <p:nvPr/>
        </p:nvSpPr>
        <p:spPr>
          <a:xfrm>
            <a:off x="2946400" y="3491589"/>
            <a:ext cx="8467" cy="66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D0DC179E-D75B-1C3D-DBB1-C1A9263A78D9}"/>
              </a:ext>
            </a:extLst>
          </p:cNvPr>
          <p:cNvSpPr/>
          <p:nvPr/>
        </p:nvSpPr>
        <p:spPr>
          <a:xfrm>
            <a:off x="6832600" y="3491589"/>
            <a:ext cx="8467" cy="66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2" name="Text 46">
            <a:extLst>
              <a:ext uri="{FF2B5EF4-FFF2-40B4-BE49-F238E27FC236}">
                <a16:creationId xmlns:a16="http://schemas.microsoft.com/office/drawing/2014/main" id="{3E68E9C3-82B4-A5F1-005E-7CC26DC6C147}"/>
              </a:ext>
            </a:extLst>
          </p:cNvPr>
          <p:cNvSpPr/>
          <p:nvPr/>
        </p:nvSpPr>
        <p:spPr>
          <a:xfrm>
            <a:off x="685800" y="2103055"/>
            <a:ext cx="638043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6.5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" name="Text 47">
            <a:extLst>
              <a:ext uri="{FF2B5EF4-FFF2-40B4-BE49-F238E27FC236}">
                <a16:creationId xmlns:a16="http://schemas.microsoft.com/office/drawing/2014/main" id="{0FE7438B-072E-B53C-8763-EE83305861A2}"/>
              </a:ext>
            </a:extLst>
          </p:cNvPr>
          <p:cNvSpPr/>
          <p:nvPr/>
        </p:nvSpPr>
        <p:spPr>
          <a:xfrm>
            <a:off x="1222243" y="2103055"/>
            <a:ext cx="377164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4" name="Text 48">
            <a:extLst>
              <a:ext uri="{FF2B5EF4-FFF2-40B4-BE49-F238E27FC236}">
                <a16:creationId xmlns:a16="http://schemas.microsoft.com/office/drawing/2014/main" id="{05B6155F-2D57-0ABC-C994-F831441D5ED1}"/>
              </a:ext>
            </a:extLst>
          </p:cNvPr>
          <p:cNvSpPr/>
          <p:nvPr/>
        </p:nvSpPr>
        <p:spPr>
          <a:xfrm>
            <a:off x="1497806" y="2103055"/>
            <a:ext cx="1090083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110.1₂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5" name="Text 49">
            <a:extLst>
              <a:ext uri="{FF2B5EF4-FFF2-40B4-BE49-F238E27FC236}">
                <a16:creationId xmlns:a16="http://schemas.microsoft.com/office/drawing/2014/main" id="{DACDE6DC-AEBA-36DD-E921-D5B51C13BF30}"/>
              </a:ext>
            </a:extLst>
          </p:cNvPr>
          <p:cNvSpPr/>
          <p:nvPr/>
        </p:nvSpPr>
        <p:spPr>
          <a:xfrm>
            <a:off x="2486290" y="2103055"/>
            <a:ext cx="377164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=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6" name="Text 50">
            <a:extLst>
              <a:ext uri="{FF2B5EF4-FFF2-40B4-BE49-F238E27FC236}">
                <a16:creationId xmlns:a16="http://schemas.microsoft.com/office/drawing/2014/main" id="{1E1A6954-BCC2-D5DD-1416-F47C24029C41}"/>
              </a:ext>
            </a:extLst>
          </p:cNvPr>
          <p:cNvSpPr/>
          <p:nvPr/>
        </p:nvSpPr>
        <p:spPr>
          <a:xfrm>
            <a:off x="2761853" y="2103055"/>
            <a:ext cx="762794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(+1)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Text 51">
            <a:extLst>
              <a:ext uri="{FF2B5EF4-FFF2-40B4-BE49-F238E27FC236}">
                <a16:creationId xmlns:a16="http://schemas.microsoft.com/office/drawing/2014/main" id="{3445C0A6-D457-9797-F3CC-BDE129963659}"/>
              </a:ext>
            </a:extLst>
          </p:cNvPr>
          <p:cNvSpPr/>
          <p:nvPr/>
        </p:nvSpPr>
        <p:spPr>
          <a:xfrm>
            <a:off x="3423047" y="2103055"/>
            <a:ext cx="516467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×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8" name="Text 52">
            <a:extLst>
              <a:ext uri="{FF2B5EF4-FFF2-40B4-BE49-F238E27FC236}">
                <a16:creationId xmlns:a16="http://schemas.microsoft.com/office/drawing/2014/main" id="{D069B3B8-CA6A-042A-FB86-820EE42E1992}"/>
              </a:ext>
            </a:extLst>
          </p:cNvPr>
          <p:cNvSpPr/>
          <p:nvPr/>
        </p:nvSpPr>
        <p:spPr>
          <a:xfrm>
            <a:off x="3837914" y="2103055"/>
            <a:ext cx="1090083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1.101₂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" name="Text 53">
            <a:extLst>
              <a:ext uri="{FF2B5EF4-FFF2-40B4-BE49-F238E27FC236}">
                <a16:creationId xmlns:a16="http://schemas.microsoft.com/office/drawing/2014/main" id="{1C2A22E8-6128-1F8C-9D1A-4DEBA5AA61E5}"/>
              </a:ext>
            </a:extLst>
          </p:cNvPr>
          <p:cNvSpPr/>
          <p:nvPr/>
        </p:nvSpPr>
        <p:spPr>
          <a:xfrm>
            <a:off x="4826397" y="2103055"/>
            <a:ext cx="516467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×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0" name="Text 54">
            <a:extLst>
              <a:ext uri="{FF2B5EF4-FFF2-40B4-BE49-F238E27FC236}">
                <a16:creationId xmlns:a16="http://schemas.microsoft.com/office/drawing/2014/main" id="{A883B84D-A7C7-D6AB-E5D4-5BE344FBE335}"/>
              </a:ext>
            </a:extLst>
          </p:cNvPr>
          <p:cNvSpPr/>
          <p:nvPr/>
        </p:nvSpPr>
        <p:spPr>
          <a:xfrm>
            <a:off x="5241264" y="2103055"/>
            <a:ext cx="505883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2467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2²</a:t>
            </a:r>
            <a:endParaRPr lang="zh-CN" sz="2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1EF4955B-2BC0-5BD9-DC35-25CCF3D1F552}"/>
              </a:ext>
            </a:extLst>
          </p:cNvPr>
          <p:cNvSpPr/>
          <p:nvPr/>
        </p:nvSpPr>
        <p:spPr>
          <a:xfrm>
            <a:off x="10405533" y="2230055"/>
            <a:ext cx="846799" cy="209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267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规格化数</a:t>
            </a:r>
            <a:endParaRPr lang="zh-CN" sz="12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2" name="Text 56">
            <a:extLst>
              <a:ext uri="{FF2B5EF4-FFF2-40B4-BE49-F238E27FC236}">
                <a16:creationId xmlns:a16="http://schemas.microsoft.com/office/drawing/2014/main" id="{53873A72-04A8-20D5-C7E6-6668F0690CBB}"/>
              </a:ext>
            </a:extLst>
          </p:cNvPr>
          <p:cNvSpPr/>
          <p:nvPr/>
        </p:nvSpPr>
        <p:spPr>
          <a:xfrm>
            <a:off x="677333" y="2653389"/>
            <a:ext cx="286411" cy="231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3" name="Text 57">
            <a:extLst>
              <a:ext uri="{FF2B5EF4-FFF2-40B4-BE49-F238E27FC236}">
                <a16:creationId xmlns:a16="http://schemas.microsoft.com/office/drawing/2014/main" id="{F3658FF9-DFB5-E7B9-FB15-6398844BF040}"/>
              </a:ext>
            </a:extLst>
          </p:cNvPr>
          <p:cNvSpPr/>
          <p:nvPr/>
        </p:nvSpPr>
        <p:spPr>
          <a:xfrm>
            <a:off x="1151467" y="2653389"/>
            <a:ext cx="1072885" cy="231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exp · 8 位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4" name="Text 58">
            <a:extLst>
              <a:ext uri="{FF2B5EF4-FFF2-40B4-BE49-F238E27FC236}">
                <a16:creationId xmlns:a16="http://schemas.microsoft.com/office/drawing/2014/main" id="{47A80978-CCFE-CFB6-61D6-2D2DDD8C7D2A}"/>
              </a:ext>
            </a:extLst>
          </p:cNvPr>
          <p:cNvSpPr/>
          <p:nvPr/>
        </p:nvSpPr>
        <p:spPr>
          <a:xfrm>
            <a:off x="3937000" y="2653389"/>
            <a:ext cx="1188508" cy="231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frac · 23 位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" name="Text 60">
            <a:extLst>
              <a:ext uri="{FF2B5EF4-FFF2-40B4-BE49-F238E27FC236}">
                <a16:creationId xmlns:a16="http://schemas.microsoft.com/office/drawing/2014/main" id="{551F54C2-0CB0-0ADF-230C-2AC2F18F09BE}"/>
              </a:ext>
            </a:extLst>
          </p:cNvPr>
          <p:cNvSpPr/>
          <p:nvPr/>
        </p:nvSpPr>
        <p:spPr>
          <a:xfrm>
            <a:off x="763455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7" name="Text 61">
            <a:extLst>
              <a:ext uri="{FF2B5EF4-FFF2-40B4-BE49-F238E27FC236}">
                <a16:creationId xmlns:a16="http://schemas.microsoft.com/office/drawing/2014/main" id="{44C15BA5-F6FB-BF2A-F1E5-B3D1CB3F5612}"/>
              </a:ext>
            </a:extLst>
          </p:cNvPr>
          <p:cNvSpPr/>
          <p:nvPr/>
        </p:nvSpPr>
        <p:spPr>
          <a:xfrm>
            <a:off x="12375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8" name="Text 62">
            <a:extLst>
              <a:ext uri="{FF2B5EF4-FFF2-40B4-BE49-F238E27FC236}">
                <a16:creationId xmlns:a16="http://schemas.microsoft.com/office/drawing/2014/main" id="{E79B71DC-4989-E5AC-8815-945F1F45E258}"/>
              </a:ext>
            </a:extLst>
          </p:cNvPr>
          <p:cNvSpPr/>
          <p:nvPr/>
        </p:nvSpPr>
        <p:spPr>
          <a:xfrm>
            <a:off x="15677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9" name="Text 63">
            <a:extLst>
              <a:ext uri="{FF2B5EF4-FFF2-40B4-BE49-F238E27FC236}">
                <a16:creationId xmlns:a16="http://schemas.microsoft.com/office/drawing/2014/main" id="{D0F860BB-9F21-2F54-1134-E1992F88009E}"/>
              </a:ext>
            </a:extLst>
          </p:cNvPr>
          <p:cNvSpPr/>
          <p:nvPr/>
        </p:nvSpPr>
        <p:spPr>
          <a:xfrm>
            <a:off x="18979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0" name="Text 64">
            <a:extLst>
              <a:ext uri="{FF2B5EF4-FFF2-40B4-BE49-F238E27FC236}">
                <a16:creationId xmlns:a16="http://schemas.microsoft.com/office/drawing/2014/main" id="{0A9E4E2C-CBDA-3CC3-B211-DE34CEEFF70E}"/>
              </a:ext>
            </a:extLst>
          </p:cNvPr>
          <p:cNvSpPr/>
          <p:nvPr/>
        </p:nvSpPr>
        <p:spPr>
          <a:xfrm>
            <a:off x="22281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1" name="Text 65">
            <a:extLst>
              <a:ext uri="{FF2B5EF4-FFF2-40B4-BE49-F238E27FC236}">
                <a16:creationId xmlns:a16="http://schemas.microsoft.com/office/drawing/2014/main" id="{18485D26-DA9F-2D36-3923-059D8F60EDCE}"/>
              </a:ext>
            </a:extLst>
          </p:cNvPr>
          <p:cNvSpPr/>
          <p:nvPr/>
        </p:nvSpPr>
        <p:spPr>
          <a:xfrm>
            <a:off x="25583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2" name="Text 66">
            <a:extLst>
              <a:ext uri="{FF2B5EF4-FFF2-40B4-BE49-F238E27FC236}">
                <a16:creationId xmlns:a16="http://schemas.microsoft.com/office/drawing/2014/main" id="{17498311-DE88-1950-1754-1A532CFA39C3}"/>
              </a:ext>
            </a:extLst>
          </p:cNvPr>
          <p:cNvSpPr/>
          <p:nvPr/>
        </p:nvSpPr>
        <p:spPr>
          <a:xfrm>
            <a:off x="28885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3" name="Text 67">
            <a:extLst>
              <a:ext uri="{FF2B5EF4-FFF2-40B4-BE49-F238E27FC236}">
                <a16:creationId xmlns:a16="http://schemas.microsoft.com/office/drawing/2014/main" id="{CD415220-6D42-5858-C4F1-1BEB1124C12C}"/>
              </a:ext>
            </a:extLst>
          </p:cNvPr>
          <p:cNvSpPr/>
          <p:nvPr/>
        </p:nvSpPr>
        <p:spPr>
          <a:xfrm>
            <a:off x="32187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4" name="Text 68">
            <a:extLst>
              <a:ext uri="{FF2B5EF4-FFF2-40B4-BE49-F238E27FC236}">
                <a16:creationId xmlns:a16="http://schemas.microsoft.com/office/drawing/2014/main" id="{E2913F62-0A20-E893-FB89-F9A6F65109A4}"/>
              </a:ext>
            </a:extLst>
          </p:cNvPr>
          <p:cNvSpPr/>
          <p:nvPr/>
        </p:nvSpPr>
        <p:spPr>
          <a:xfrm>
            <a:off x="3548989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5" name="Text 69">
            <a:extLst>
              <a:ext uri="{FF2B5EF4-FFF2-40B4-BE49-F238E27FC236}">
                <a16:creationId xmlns:a16="http://schemas.microsoft.com/office/drawing/2014/main" id="{4DCEA5DD-1CD4-B944-6408-F5F4636DE6EB}"/>
              </a:ext>
            </a:extLst>
          </p:cNvPr>
          <p:cNvSpPr/>
          <p:nvPr/>
        </p:nvSpPr>
        <p:spPr>
          <a:xfrm>
            <a:off x="40231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6" name="Text 70">
            <a:extLst>
              <a:ext uri="{FF2B5EF4-FFF2-40B4-BE49-F238E27FC236}">
                <a16:creationId xmlns:a16="http://schemas.microsoft.com/office/drawing/2014/main" id="{D55AFCC6-1E99-3E7E-81E9-2CC3CBCA186F}"/>
              </a:ext>
            </a:extLst>
          </p:cNvPr>
          <p:cNvSpPr/>
          <p:nvPr/>
        </p:nvSpPr>
        <p:spPr>
          <a:xfrm>
            <a:off x="43533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7" name="Text 71">
            <a:extLst>
              <a:ext uri="{FF2B5EF4-FFF2-40B4-BE49-F238E27FC236}">
                <a16:creationId xmlns:a16="http://schemas.microsoft.com/office/drawing/2014/main" id="{5DA4BECA-6F0E-6D58-6185-48240621BC8F}"/>
              </a:ext>
            </a:extLst>
          </p:cNvPr>
          <p:cNvSpPr/>
          <p:nvPr/>
        </p:nvSpPr>
        <p:spPr>
          <a:xfrm>
            <a:off x="46835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8" name="Text 72">
            <a:extLst>
              <a:ext uri="{FF2B5EF4-FFF2-40B4-BE49-F238E27FC236}">
                <a16:creationId xmlns:a16="http://schemas.microsoft.com/office/drawing/2014/main" id="{D91A1F39-6F8F-AD4F-CBF8-66406B347B1C}"/>
              </a:ext>
            </a:extLst>
          </p:cNvPr>
          <p:cNvSpPr/>
          <p:nvPr/>
        </p:nvSpPr>
        <p:spPr>
          <a:xfrm>
            <a:off x="50137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9" name="Text 73">
            <a:extLst>
              <a:ext uri="{FF2B5EF4-FFF2-40B4-BE49-F238E27FC236}">
                <a16:creationId xmlns:a16="http://schemas.microsoft.com/office/drawing/2014/main" id="{C91E4F36-4CD1-4499-0AD3-0E446CCF7756}"/>
              </a:ext>
            </a:extLst>
          </p:cNvPr>
          <p:cNvSpPr/>
          <p:nvPr/>
        </p:nvSpPr>
        <p:spPr>
          <a:xfrm>
            <a:off x="53439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0" name="Text 74">
            <a:extLst>
              <a:ext uri="{FF2B5EF4-FFF2-40B4-BE49-F238E27FC236}">
                <a16:creationId xmlns:a16="http://schemas.microsoft.com/office/drawing/2014/main" id="{93F4FE14-100C-2350-38FD-52A31DF6DECB}"/>
              </a:ext>
            </a:extLst>
          </p:cNvPr>
          <p:cNvSpPr/>
          <p:nvPr/>
        </p:nvSpPr>
        <p:spPr>
          <a:xfrm>
            <a:off x="56741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1" name="Text 75">
            <a:extLst>
              <a:ext uri="{FF2B5EF4-FFF2-40B4-BE49-F238E27FC236}">
                <a16:creationId xmlns:a16="http://schemas.microsoft.com/office/drawing/2014/main" id="{C69D661E-61E3-3AC5-9449-481B20485352}"/>
              </a:ext>
            </a:extLst>
          </p:cNvPr>
          <p:cNvSpPr/>
          <p:nvPr/>
        </p:nvSpPr>
        <p:spPr>
          <a:xfrm>
            <a:off x="60043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2" name="Text 76">
            <a:extLst>
              <a:ext uri="{FF2B5EF4-FFF2-40B4-BE49-F238E27FC236}">
                <a16:creationId xmlns:a16="http://schemas.microsoft.com/office/drawing/2014/main" id="{05F677FF-6A8C-1AA2-06E2-280BFA287587}"/>
              </a:ext>
            </a:extLst>
          </p:cNvPr>
          <p:cNvSpPr/>
          <p:nvPr/>
        </p:nvSpPr>
        <p:spPr>
          <a:xfrm>
            <a:off x="63345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3" name="Text 77">
            <a:extLst>
              <a:ext uri="{FF2B5EF4-FFF2-40B4-BE49-F238E27FC236}">
                <a16:creationId xmlns:a16="http://schemas.microsoft.com/office/drawing/2014/main" id="{251E2C06-E83F-4E63-052D-BA6CD2BB0E24}"/>
              </a:ext>
            </a:extLst>
          </p:cNvPr>
          <p:cNvSpPr/>
          <p:nvPr/>
        </p:nvSpPr>
        <p:spPr>
          <a:xfrm>
            <a:off x="66647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4" name="Text 78">
            <a:extLst>
              <a:ext uri="{FF2B5EF4-FFF2-40B4-BE49-F238E27FC236}">
                <a16:creationId xmlns:a16="http://schemas.microsoft.com/office/drawing/2014/main" id="{43DCF35A-F0C4-A95F-7D26-3CC60F150502}"/>
              </a:ext>
            </a:extLst>
          </p:cNvPr>
          <p:cNvSpPr/>
          <p:nvPr/>
        </p:nvSpPr>
        <p:spPr>
          <a:xfrm>
            <a:off x="69949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5" name="Text 79">
            <a:extLst>
              <a:ext uri="{FF2B5EF4-FFF2-40B4-BE49-F238E27FC236}">
                <a16:creationId xmlns:a16="http://schemas.microsoft.com/office/drawing/2014/main" id="{60201492-75BF-2202-DF2F-25DBCAC6495A}"/>
              </a:ext>
            </a:extLst>
          </p:cNvPr>
          <p:cNvSpPr/>
          <p:nvPr/>
        </p:nvSpPr>
        <p:spPr>
          <a:xfrm>
            <a:off x="73251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6" name="Text 80">
            <a:extLst>
              <a:ext uri="{FF2B5EF4-FFF2-40B4-BE49-F238E27FC236}">
                <a16:creationId xmlns:a16="http://schemas.microsoft.com/office/drawing/2014/main" id="{4128021A-FA4F-54E0-119A-800C12CE9D83}"/>
              </a:ext>
            </a:extLst>
          </p:cNvPr>
          <p:cNvSpPr/>
          <p:nvPr/>
        </p:nvSpPr>
        <p:spPr>
          <a:xfrm>
            <a:off x="76553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7" name="Text 81">
            <a:extLst>
              <a:ext uri="{FF2B5EF4-FFF2-40B4-BE49-F238E27FC236}">
                <a16:creationId xmlns:a16="http://schemas.microsoft.com/office/drawing/2014/main" id="{4B695DD9-AD61-3086-D484-715D0F4C8936}"/>
              </a:ext>
            </a:extLst>
          </p:cNvPr>
          <p:cNvSpPr/>
          <p:nvPr/>
        </p:nvSpPr>
        <p:spPr>
          <a:xfrm>
            <a:off x="79855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8" name="Text 82">
            <a:extLst>
              <a:ext uri="{FF2B5EF4-FFF2-40B4-BE49-F238E27FC236}">
                <a16:creationId xmlns:a16="http://schemas.microsoft.com/office/drawing/2014/main" id="{C6687FFE-50BF-58EE-5B85-D95054F2C362}"/>
              </a:ext>
            </a:extLst>
          </p:cNvPr>
          <p:cNvSpPr/>
          <p:nvPr/>
        </p:nvSpPr>
        <p:spPr>
          <a:xfrm>
            <a:off x="83157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9" name="Text 83">
            <a:extLst>
              <a:ext uri="{FF2B5EF4-FFF2-40B4-BE49-F238E27FC236}">
                <a16:creationId xmlns:a16="http://schemas.microsoft.com/office/drawing/2014/main" id="{7F0DF39B-3F52-839A-1C16-686963C29675}"/>
              </a:ext>
            </a:extLst>
          </p:cNvPr>
          <p:cNvSpPr/>
          <p:nvPr/>
        </p:nvSpPr>
        <p:spPr>
          <a:xfrm>
            <a:off x="86459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0" name="Text 84">
            <a:extLst>
              <a:ext uri="{FF2B5EF4-FFF2-40B4-BE49-F238E27FC236}">
                <a16:creationId xmlns:a16="http://schemas.microsoft.com/office/drawing/2014/main" id="{AEA148C7-27DD-003D-EA85-8BB49ACFA62D}"/>
              </a:ext>
            </a:extLst>
          </p:cNvPr>
          <p:cNvSpPr/>
          <p:nvPr/>
        </p:nvSpPr>
        <p:spPr>
          <a:xfrm>
            <a:off x="89761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1" name="Text 85">
            <a:extLst>
              <a:ext uri="{FF2B5EF4-FFF2-40B4-BE49-F238E27FC236}">
                <a16:creationId xmlns:a16="http://schemas.microsoft.com/office/drawing/2014/main" id="{B708F78B-AF97-E881-B36C-FD1C0161D11F}"/>
              </a:ext>
            </a:extLst>
          </p:cNvPr>
          <p:cNvSpPr/>
          <p:nvPr/>
        </p:nvSpPr>
        <p:spPr>
          <a:xfrm>
            <a:off x="93063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2" name="Text 86">
            <a:extLst>
              <a:ext uri="{FF2B5EF4-FFF2-40B4-BE49-F238E27FC236}">
                <a16:creationId xmlns:a16="http://schemas.microsoft.com/office/drawing/2014/main" id="{42D0F4D0-9602-516B-705F-834737263E24}"/>
              </a:ext>
            </a:extLst>
          </p:cNvPr>
          <p:cNvSpPr/>
          <p:nvPr/>
        </p:nvSpPr>
        <p:spPr>
          <a:xfrm>
            <a:off x="96365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3" name="Text 87">
            <a:extLst>
              <a:ext uri="{FF2B5EF4-FFF2-40B4-BE49-F238E27FC236}">
                <a16:creationId xmlns:a16="http://schemas.microsoft.com/office/drawing/2014/main" id="{CFCFC52C-7FE6-989C-6869-5B7DBABE431A}"/>
              </a:ext>
            </a:extLst>
          </p:cNvPr>
          <p:cNvSpPr/>
          <p:nvPr/>
        </p:nvSpPr>
        <p:spPr>
          <a:xfrm>
            <a:off x="99667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4" name="Text 88">
            <a:extLst>
              <a:ext uri="{FF2B5EF4-FFF2-40B4-BE49-F238E27FC236}">
                <a16:creationId xmlns:a16="http://schemas.microsoft.com/office/drawing/2014/main" id="{24ADD6A4-C3F0-0BD2-839E-A132C2969586}"/>
              </a:ext>
            </a:extLst>
          </p:cNvPr>
          <p:cNvSpPr/>
          <p:nvPr/>
        </p:nvSpPr>
        <p:spPr>
          <a:xfrm>
            <a:off x="102969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5" name="Text 89">
            <a:extLst>
              <a:ext uri="{FF2B5EF4-FFF2-40B4-BE49-F238E27FC236}">
                <a16:creationId xmlns:a16="http://schemas.microsoft.com/office/drawing/2014/main" id="{EE746A64-5CC9-942C-4785-93B2449E4E33}"/>
              </a:ext>
            </a:extLst>
          </p:cNvPr>
          <p:cNvSpPr/>
          <p:nvPr/>
        </p:nvSpPr>
        <p:spPr>
          <a:xfrm>
            <a:off x="106271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6" name="Text 90">
            <a:extLst>
              <a:ext uri="{FF2B5EF4-FFF2-40B4-BE49-F238E27FC236}">
                <a16:creationId xmlns:a16="http://schemas.microsoft.com/office/drawing/2014/main" id="{81652734-E5BD-719A-3CB9-1BFF864F16AF}"/>
              </a:ext>
            </a:extLst>
          </p:cNvPr>
          <p:cNvSpPr/>
          <p:nvPr/>
        </p:nvSpPr>
        <p:spPr>
          <a:xfrm>
            <a:off x="10957322" y="3004755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7" name="Text 91">
            <a:extLst>
              <a:ext uri="{FF2B5EF4-FFF2-40B4-BE49-F238E27FC236}">
                <a16:creationId xmlns:a16="http://schemas.microsoft.com/office/drawing/2014/main" id="{5214AA5F-4B7D-0F54-16DF-3F643119232F}"/>
              </a:ext>
            </a:extLst>
          </p:cNvPr>
          <p:cNvSpPr/>
          <p:nvPr/>
        </p:nvSpPr>
        <p:spPr>
          <a:xfrm>
            <a:off x="11287522" y="3003606"/>
            <a:ext cx="335756" cy="22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8" name="Text 92">
            <a:extLst>
              <a:ext uri="{FF2B5EF4-FFF2-40B4-BE49-F238E27FC236}">
                <a16:creationId xmlns:a16="http://schemas.microsoft.com/office/drawing/2014/main" id="{5F1DE724-0E63-DF73-E97B-765E39AAACF7}"/>
              </a:ext>
            </a:extLst>
          </p:cNvPr>
          <p:cNvSpPr/>
          <p:nvPr/>
        </p:nvSpPr>
        <p:spPr>
          <a:xfrm>
            <a:off x="677333" y="3474655"/>
            <a:ext cx="9998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符号 · 1 位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9" name="Text 93">
            <a:extLst>
              <a:ext uri="{FF2B5EF4-FFF2-40B4-BE49-F238E27FC236}">
                <a16:creationId xmlns:a16="http://schemas.microsoft.com/office/drawing/2014/main" id="{3A8265AB-DD41-33C2-AFDC-8F7F5FA732C9}"/>
              </a:ext>
            </a:extLst>
          </p:cNvPr>
          <p:cNvSpPr/>
          <p:nvPr/>
        </p:nvSpPr>
        <p:spPr>
          <a:xfrm>
            <a:off x="677333" y="3703255"/>
            <a:ext cx="1206500" cy="308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867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(−1)⁰ = +1</a:t>
            </a:r>
            <a:endParaRPr lang="zh-CN" sz="18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0" name="Text 94">
            <a:extLst>
              <a:ext uri="{FF2B5EF4-FFF2-40B4-BE49-F238E27FC236}">
                <a16:creationId xmlns:a16="http://schemas.microsoft.com/office/drawing/2014/main" id="{31C27786-F0D2-8F70-C8B2-9A4DC0E2F1DE}"/>
              </a:ext>
            </a:extLst>
          </p:cNvPr>
          <p:cNvSpPr/>
          <p:nvPr/>
        </p:nvSpPr>
        <p:spPr>
          <a:xfrm>
            <a:off x="3183467" y="3474655"/>
            <a:ext cx="196969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阶码：存入 e，解码得到 E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1" name="Text 95">
            <a:extLst>
              <a:ext uri="{FF2B5EF4-FFF2-40B4-BE49-F238E27FC236}">
                <a16:creationId xmlns:a16="http://schemas.microsoft.com/office/drawing/2014/main" id="{39832128-C386-EF53-1F76-4DB24C2656B4}"/>
              </a:ext>
            </a:extLst>
          </p:cNvPr>
          <p:cNvSpPr/>
          <p:nvPr/>
        </p:nvSpPr>
        <p:spPr>
          <a:xfrm>
            <a:off x="3183467" y="3703255"/>
            <a:ext cx="2031999" cy="28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 = 129 → E = </a:t>
            </a:r>
            <a:r>
              <a:rPr lang="en-US" altLang="zh-CN" sz="17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</a:t>
            </a:r>
            <a:endParaRPr lang="zh-CN" sz="17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2" name="Text 96">
            <a:extLst>
              <a:ext uri="{FF2B5EF4-FFF2-40B4-BE49-F238E27FC236}">
                <a16:creationId xmlns:a16="http://schemas.microsoft.com/office/drawing/2014/main" id="{CE8847E8-AA45-1303-72D8-AA13F649F772}"/>
              </a:ext>
            </a:extLst>
          </p:cNvPr>
          <p:cNvSpPr/>
          <p:nvPr/>
        </p:nvSpPr>
        <p:spPr>
          <a:xfrm>
            <a:off x="3183467" y="4024989"/>
            <a:ext cx="1189964" cy="1870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133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Bias = 127</a:t>
            </a:r>
            <a:endParaRPr lang="zh-CN" sz="11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3" name="Text 97">
            <a:extLst>
              <a:ext uri="{FF2B5EF4-FFF2-40B4-BE49-F238E27FC236}">
                <a16:creationId xmlns:a16="http://schemas.microsoft.com/office/drawing/2014/main" id="{5884F6E6-9C72-731D-F10C-C77B9FE20288}"/>
              </a:ext>
            </a:extLst>
          </p:cNvPr>
          <p:cNvSpPr/>
          <p:nvPr/>
        </p:nvSpPr>
        <p:spPr>
          <a:xfrm>
            <a:off x="7078133" y="3474655"/>
            <a:ext cx="22571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尾数：小数域解码为 f = 0.frac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4" name="Text 98">
            <a:extLst>
              <a:ext uri="{FF2B5EF4-FFF2-40B4-BE49-F238E27FC236}">
                <a16:creationId xmlns:a16="http://schemas.microsoft.com/office/drawing/2014/main" id="{0602874A-1C4E-03C7-8E84-A895DAF9FFA8}"/>
              </a:ext>
            </a:extLst>
          </p:cNvPr>
          <p:cNvSpPr/>
          <p:nvPr/>
        </p:nvSpPr>
        <p:spPr>
          <a:xfrm>
            <a:off x="7078133" y="3703255"/>
            <a:ext cx="2327936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M = 1 + 0.101₂ = 1.101₂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5" name="Text 99">
            <a:extLst>
              <a:ext uri="{FF2B5EF4-FFF2-40B4-BE49-F238E27FC236}">
                <a16:creationId xmlns:a16="http://schemas.microsoft.com/office/drawing/2014/main" id="{12EA371F-9C95-D116-4061-6E6CC2F727E8}"/>
              </a:ext>
            </a:extLst>
          </p:cNvPr>
          <p:cNvSpPr/>
          <p:nvPr/>
        </p:nvSpPr>
        <p:spPr>
          <a:xfrm>
            <a:off x="7078133" y="4024989"/>
            <a:ext cx="2218796" cy="1870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133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开头的 1 不存储，解码时补上</a:t>
            </a:r>
            <a:endParaRPr lang="zh-CN" sz="11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9" name="Shape 37">
            <a:extLst>
              <a:ext uri="{FF2B5EF4-FFF2-40B4-BE49-F238E27FC236}">
                <a16:creationId xmlns:a16="http://schemas.microsoft.com/office/drawing/2014/main" id="{A57219CE-1087-4E32-BE99-ED0961C0A2CD}"/>
              </a:ext>
            </a:extLst>
          </p:cNvPr>
          <p:cNvSpPr/>
          <p:nvPr/>
        </p:nvSpPr>
        <p:spPr>
          <a:xfrm>
            <a:off x="541865" y="4901287"/>
            <a:ext cx="11108267" cy="423333"/>
          </a:xfrm>
          <a:prstGeom prst="roundRect">
            <a:avLst>
              <a:gd name="adj" fmla="val 20000"/>
            </a:avLst>
          </a:prstGeom>
          <a:solidFill>
            <a:srgbClr val="ECEFFC"/>
          </a:solidFill>
          <a:ln w="12700">
            <a:solidFill>
              <a:srgbClr val="ECEFFC">
                <a:alpha val="0"/>
              </a:srgbClr>
            </a:solidFill>
            <a:prstDash val="solid"/>
          </a:ln>
        </p:spPr>
      </p:sp>
      <p:sp>
        <p:nvSpPr>
          <p:cNvPr id="100" name="Shape 38">
            <a:extLst>
              <a:ext uri="{FF2B5EF4-FFF2-40B4-BE49-F238E27FC236}">
                <a16:creationId xmlns:a16="http://schemas.microsoft.com/office/drawing/2014/main" id="{0D55311F-2017-8750-BB94-E6184D361CDE}"/>
              </a:ext>
            </a:extLst>
          </p:cNvPr>
          <p:cNvSpPr/>
          <p:nvPr/>
        </p:nvSpPr>
        <p:spPr>
          <a:xfrm>
            <a:off x="541867" y="5399271"/>
            <a:ext cx="11108267" cy="423333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 w="12700">
            <a:solidFill>
              <a:srgbClr val="F1F4F8">
                <a:alpha val="0"/>
              </a:srgbClr>
            </a:solidFill>
            <a:prstDash val="solid"/>
          </a:ln>
        </p:spPr>
      </p:sp>
      <p:sp>
        <p:nvSpPr>
          <p:cNvPr id="101" name="Shape 39">
            <a:extLst>
              <a:ext uri="{FF2B5EF4-FFF2-40B4-BE49-F238E27FC236}">
                <a16:creationId xmlns:a16="http://schemas.microsoft.com/office/drawing/2014/main" id="{88BC9933-D83A-74CE-911D-D36C94F2F5CB}"/>
              </a:ext>
            </a:extLst>
          </p:cNvPr>
          <p:cNvSpPr/>
          <p:nvPr/>
        </p:nvSpPr>
        <p:spPr>
          <a:xfrm>
            <a:off x="541867" y="5873404"/>
            <a:ext cx="11108267" cy="423333"/>
          </a:xfrm>
          <a:prstGeom prst="roundRect">
            <a:avLst>
              <a:gd name="adj" fmla="val 20000"/>
            </a:avLst>
          </a:prstGeom>
          <a:solidFill>
            <a:srgbClr val="F1F4F8"/>
          </a:solidFill>
          <a:ln w="12700">
            <a:solidFill>
              <a:srgbClr val="F1F4F8">
                <a:alpha val="0"/>
              </a:srgbClr>
            </a:solidFill>
            <a:prstDash val="solid"/>
          </a:ln>
        </p:spPr>
      </p:sp>
      <p:sp>
        <p:nvSpPr>
          <p:cNvPr id="102" name="Shape 40">
            <a:extLst>
              <a:ext uri="{FF2B5EF4-FFF2-40B4-BE49-F238E27FC236}">
                <a16:creationId xmlns:a16="http://schemas.microsoft.com/office/drawing/2014/main" id="{EEBA855C-71A8-E860-E6D4-2296B37AF6AE}"/>
              </a:ext>
            </a:extLst>
          </p:cNvPr>
          <p:cNvSpPr/>
          <p:nvPr/>
        </p:nvSpPr>
        <p:spPr>
          <a:xfrm>
            <a:off x="541867" y="5018271"/>
            <a:ext cx="33867" cy="237067"/>
          </a:xfrm>
          <a:prstGeom prst="roundRect">
            <a:avLst>
              <a:gd name="adj" fmla="val 50000"/>
            </a:avLst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103" name="Text 106">
            <a:extLst>
              <a:ext uri="{FF2B5EF4-FFF2-40B4-BE49-F238E27FC236}">
                <a16:creationId xmlns:a16="http://schemas.microsoft.com/office/drawing/2014/main" id="{3A5CB951-885A-0440-0332-C3903BE32F14}"/>
              </a:ext>
            </a:extLst>
          </p:cNvPr>
          <p:cNvSpPr/>
          <p:nvPr/>
        </p:nvSpPr>
        <p:spPr>
          <a:xfrm>
            <a:off x="685800" y="4646198"/>
            <a:ext cx="108386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阶码的数值 e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4" name="Text 107">
            <a:extLst>
              <a:ext uri="{FF2B5EF4-FFF2-40B4-BE49-F238E27FC236}">
                <a16:creationId xmlns:a16="http://schemas.microsoft.com/office/drawing/2014/main" id="{0229FD51-B700-DD61-9DEA-5325E49C747A}"/>
              </a:ext>
            </a:extLst>
          </p:cNvPr>
          <p:cNvSpPr/>
          <p:nvPr/>
        </p:nvSpPr>
        <p:spPr>
          <a:xfrm>
            <a:off x="2878667" y="4646198"/>
            <a:ext cx="50800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类别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5" name="Text 108">
            <a:extLst>
              <a:ext uri="{FF2B5EF4-FFF2-40B4-BE49-F238E27FC236}">
                <a16:creationId xmlns:a16="http://schemas.microsoft.com/office/drawing/2014/main" id="{428ED129-45EC-1A41-28EF-7793489D25BC}"/>
              </a:ext>
            </a:extLst>
          </p:cNvPr>
          <p:cNvSpPr/>
          <p:nvPr/>
        </p:nvSpPr>
        <p:spPr>
          <a:xfrm>
            <a:off x="6248400" y="4646198"/>
            <a:ext cx="93675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指数 E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6" name="Text 109">
            <a:extLst>
              <a:ext uri="{FF2B5EF4-FFF2-40B4-BE49-F238E27FC236}">
                <a16:creationId xmlns:a16="http://schemas.microsoft.com/office/drawing/2014/main" id="{2BCFC5C4-96AF-C1DF-CBB5-3F503678D6DF}"/>
              </a:ext>
            </a:extLst>
          </p:cNvPr>
          <p:cNvSpPr/>
          <p:nvPr/>
        </p:nvSpPr>
        <p:spPr>
          <a:xfrm>
            <a:off x="9245600" y="4646198"/>
            <a:ext cx="66595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尾数 M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7" name="Text 110">
            <a:extLst>
              <a:ext uri="{FF2B5EF4-FFF2-40B4-BE49-F238E27FC236}">
                <a16:creationId xmlns:a16="http://schemas.microsoft.com/office/drawing/2014/main" id="{B3537BFB-7EDB-47BA-82EE-2C2B3EFCAD6F}"/>
              </a:ext>
            </a:extLst>
          </p:cNvPr>
          <p:cNvSpPr/>
          <p:nvPr/>
        </p:nvSpPr>
        <p:spPr>
          <a:xfrm>
            <a:off x="685800" y="5009804"/>
            <a:ext cx="1403482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 ≤ e ≤ 254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8" name="Text 111">
            <a:extLst>
              <a:ext uri="{FF2B5EF4-FFF2-40B4-BE49-F238E27FC236}">
                <a16:creationId xmlns:a16="http://schemas.microsoft.com/office/drawing/2014/main" id="{DD2D9DFE-44EC-C68A-99C1-6FC29627BAA5}"/>
              </a:ext>
            </a:extLst>
          </p:cNvPr>
          <p:cNvSpPr/>
          <p:nvPr/>
        </p:nvSpPr>
        <p:spPr>
          <a:xfrm>
            <a:off x="2878667" y="5009804"/>
            <a:ext cx="1049999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规格化数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9" name="Text 112">
            <a:extLst>
              <a:ext uri="{FF2B5EF4-FFF2-40B4-BE49-F238E27FC236}">
                <a16:creationId xmlns:a16="http://schemas.microsoft.com/office/drawing/2014/main" id="{3C3EF6DC-3F73-928F-1911-F2777D1A82B2}"/>
              </a:ext>
            </a:extLst>
          </p:cNvPr>
          <p:cNvSpPr/>
          <p:nvPr/>
        </p:nvSpPr>
        <p:spPr>
          <a:xfrm>
            <a:off x="6248400" y="5009804"/>
            <a:ext cx="885296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</a:t>
            </a:r>
            <a:r>
              <a:rPr lang="zh-CN" altLang="en-US" sz="1667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− 127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0" name="Text 113">
            <a:extLst>
              <a:ext uri="{FF2B5EF4-FFF2-40B4-BE49-F238E27FC236}">
                <a16:creationId xmlns:a16="http://schemas.microsoft.com/office/drawing/2014/main" id="{A0812850-918C-6D0D-2F89-41418023AEBA}"/>
              </a:ext>
            </a:extLst>
          </p:cNvPr>
          <p:cNvSpPr/>
          <p:nvPr/>
        </p:nvSpPr>
        <p:spPr>
          <a:xfrm>
            <a:off x="9245600" y="5009804"/>
            <a:ext cx="601795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667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+ f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1" name="Text 114">
            <a:extLst>
              <a:ext uri="{FF2B5EF4-FFF2-40B4-BE49-F238E27FC236}">
                <a16:creationId xmlns:a16="http://schemas.microsoft.com/office/drawing/2014/main" id="{2EECD13E-0A67-CEAF-48F4-9C58FBD2E67B}"/>
              </a:ext>
            </a:extLst>
          </p:cNvPr>
          <p:cNvSpPr/>
          <p:nvPr/>
        </p:nvSpPr>
        <p:spPr>
          <a:xfrm>
            <a:off x="685800" y="5483937"/>
            <a:ext cx="650346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 = 0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2" name="Text 115">
            <a:extLst>
              <a:ext uri="{FF2B5EF4-FFF2-40B4-BE49-F238E27FC236}">
                <a16:creationId xmlns:a16="http://schemas.microsoft.com/office/drawing/2014/main" id="{6B9F2888-C03A-EC95-AB8E-02A2EBA9D9CF}"/>
              </a:ext>
            </a:extLst>
          </p:cNvPr>
          <p:cNvSpPr/>
          <p:nvPr/>
        </p:nvSpPr>
        <p:spPr>
          <a:xfrm>
            <a:off x="2878667" y="5483937"/>
            <a:ext cx="1768607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非规格化数 / ±0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3" name="Text 116">
            <a:extLst>
              <a:ext uri="{FF2B5EF4-FFF2-40B4-BE49-F238E27FC236}">
                <a16:creationId xmlns:a16="http://schemas.microsoft.com/office/drawing/2014/main" id="{2B82FBD9-5CFF-A428-6777-5650A13BEA85}"/>
              </a:ext>
            </a:extLst>
          </p:cNvPr>
          <p:cNvSpPr/>
          <p:nvPr/>
        </p:nvSpPr>
        <p:spPr>
          <a:xfrm>
            <a:off x="6248400" y="5483937"/>
            <a:ext cx="1567656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667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− 127 = −126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4" name="Text 117">
            <a:extLst>
              <a:ext uri="{FF2B5EF4-FFF2-40B4-BE49-F238E27FC236}">
                <a16:creationId xmlns:a16="http://schemas.microsoft.com/office/drawing/2014/main" id="{6F337477-126D-8CCA-4419-FDCE86396AD6}"/>
              </a:ext>
            </a:extLst>
          </p:cNvPr>
          <p:cNvSpPr/>
          <p:nvPr/>
        </p:nvSpPr>
        <p:spPr>
          <a:xfrm>
            <a:off x="9245600" y="5483937"/>
            <a:ext cx="272124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6" name="Text 119">
            <a:extLst>
              <a:ext uri="{FF2B5EF4-FFF2-40B4-BE49-F238E27FC236}">
                <a16:creationId xmlns:a16="http://schemas.microsoft.com/office/drawing/2014/main" id="{857E0FD9-B9C6-66DF-4540-F29FA4FAB012}"/>
              </a:ext>
            </a:extLst>
          </p:cNvPr>
          <p:cNvSpPr/>
          <p:nvPr/>
        </p:nvSpPr>
        <p:spPr>
          <a:xfrm>
            <a:off x="685800" y="5958071"/>
            <a:ext cx="885296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 = 255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7" name="Text 120">
            <a:extLst>
              <a:ext uri="{FF2B5EF4-FFF2-40B4-BE49-F238E27FC236}">
                <a16:creationId xmlns:a16="http://schemas.microsoft.com/office/drawing/2014/main" id="{A88AEE3A-A946-EF41-8381-E996EF71DEE1}"/>
              </a:ext>
            </a:extLst>
          </p:cNvPr>
          <p:cNvSpPr/>
          <p:nvPr/>
        </p:nvSpPr>
        <p:spPr>
          <a:xfrm>
            <a:off x="2878667" y="5958071"/>
            <a:ext cx="838332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特殊值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 121">
                <a:extLst>
                  <a:ext uri="{FF2B5EF4-FFF2-40B4-BE49-F238E27FC236}">
                    <a16:creationId xmlns:a16="http://schemas.microsoft.com/office/drawing/2014/main" id="{41E65719-A72B-15C2-3245-09311AF0D0D3}"/>
                  </a:ext>
                </a:extLst>
              </p:cNvPr>
              <p:cNvSpPr/>
              <p:nvPr/>
            </p:nvSpPr>
            <p:spPr>
              <a:xfrm>
                <a:off x="6248400" y="5958071"/>
                <a:ext cx="1331648" cy="27516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zh-CN" altLang="en-US" sz="1667" dirty="0">
                    <a:solidFill>
                      <a:srgbClr val="14283E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f = 0 → </a:t>
                </a:r>
                <a14:m>
                  <m:oMath xmlns:m="http://schemas.openxmlformats.org/officeDocument/2006/math">
                    <m:r>
                      <a:rPr lang="en-US" altLang="zh-CN" sz="1667" i="1" smtClean="0">
                        <a:solidFill>
                          <a:srgbClr val="14283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  <m:r>
                      <a:rPr lang="zh-CN" altLang="en-US" sz="1667" i="1" smtClean="0">
                        <a:solidFill>
                          <a:srgbClr val="14283E"/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Arial" panose="020B0604020202020204" pitchFamily="34" charset="0"/>
                      </a:rPr>
                      <m:t>∞</m:t>
                    </m:r>
                  </m:oMath>
                </a14:m>
                <a:endParaRPr lang="zh-CN" sz="1667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8" name="Text 121">
                <a:extLst>
                  <a:ext uri="{FF2B5EF4-FFF2-40B4-BE49-F238E27FC236}">
                    <a16:creationId xmlns:a16="http://schemas.microsoft.com/office/drawing/2014/main" id="{41E65719-A72B-15C2-3245-09311AF0D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5958071"/>
                <a:ext cx="1331648" cy="275167"/>
              </a:xfrm>
              <a:prstGeom prst="rect">
                <a:avLst/>
              </a:prstGeom>
              <a:blipFill>
                <a:blip r:embed="rId2"/>
                <a:stretch>
                  <a:fillRect l="-10476" t="-16667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Text 122">
            <a:extLst>
              <a:ext uri="{FF2B5EF4-FFF2-40B4-BE49-F238E27FC236}">
                <a16:creationId xmlns:a16="http://schemas.microsoft.com/office/drawing/2014/main" id="{BF7BC1F7-6D73-EB8A-96F0-68B4389090DC}"/>
              </a:ext>
            </a:extLst>
          </p:cNvPr>
          <p:cNvSpPr/>
          <p:nvPr/>
        </p:nvSpPr>
        <p:spPr>
          <a:xfrm>
            <a:off x="9245600" y="5958071"/>
            <a:ext cx="1427824" cy="275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67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 ≠ 0 → NaN</a:t>
            </a:r>
            <a:endParaRPr lang="zh-CN" sz="16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34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6" grpId="0" animBg="1"/>
      <p:bldP spid="117" grpId="0" animBg="1"/>
      <p:bldP spid="118" grpId="0" animBg="1"/>
      <p:bldP spid="1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EFAD-8FDB-DC45-9C00-CAA52973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24A9E-9149-3D1F-6EEA-DE335435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16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184F6-B1E0-6917-FD56-EF39D52DDA34}"/>
              </a:ext>
            </a:extLst>
          </p:cNvPr>
          <p:cNvSpPr txBox="1"/>
          <p:nvPr/>
        </p:nvSpPr>
        <p:spPr>
          <a:xfrm>
            <a:off x="268438" y="648101"/>
            <a:ext cx="4785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浮点数在</a:t>
            </a:r>
            <a:r>
              <a:rPr kumimoji="1" lang="zh-CN" altLang="en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实</a:t>
            </a:r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数轴上的分布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24F3D-B66E-E6AD-E538-6AB36A74DB80}"/>
              </a:ext>
            </a:extLst>
          </p:cNvPr>
          <p:cNvSpPr txBox="1"/>
          <p:nvPr/>
        </p:nvSpPr>
        <p:spPr>
          <a:xfrm>
            <a:off x="268437" y="1232876"/>
            <a:ext cx="7370959" cy="5026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同一个</a:t>
            </a:r>
            <a:r>
              <a:rPr kumimoji="1" lang="zh-CN" altLang="en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阶码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下均匀分布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阶码从 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到 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，分布间隔不变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（非规格化数到规格化数的平滑过渡）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除此之外，阶码增大 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，分布间隔翻倍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（逐渐下溢）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hlinkClick r:id="rId2"/>
              </a:rPr>
              <a:t>Float representation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43" name="Picture 342">
            <a:extLst>
              <a:ext uri="{FF2B5EF4-FFF2-40B4-BE49-F238E27FC236}">
                <a16:creationId xmlns:a16="http://schemas.microsoft.com/office/drawing/2014/main" id="{E9F0E181-BB3F-1CB7-A627-3C7F9E234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750" y="2124807"/>
            <a:ext cx="8808499" cy="2442127"/>
          </a:xfrm>
          <a:prstGeom prst="rect">
            <a:avLst/>
          </a:prstGeom>
        </p:spPr>
      </p:pic>
      <p:sp>
        <p:nvSpPr>
          <p:cNvPr id="344" name="Shape 12">
            <a:extLst>
              <a:ext uri="{FF2B5EF4-FFF2-40B4-BE49-F238E27FC236}">
                <a16:creationId xmlns:a16="http://schemas.microsoft.com/office/drawing/2014/main" id="{8C4FDA98-110E-3D1A-1C3A-9B0A8FD9E2C7}"/>
              </a:ext>
            </a:extLst>
          </p:cNvPr>
          <p:cNvSpPr/>
          <p:nvPr/>
        </p:nvSpPr>
        <p:spPr>
          <a:xfrm>
            <a:off x="1268460" y="5219031"/>
            <a:ext cx="1388533" cy="414868"/>
          </a:xfrm>
          <a:prstGeom prst="rect">
            <a:avLst/>
          </a:prstGeom>
          <a:solidFill>
            <a:srgbClr val="F0F1FD"/>
          </a:solidFill>
          <a:ln w="12700">
            <a:solidFill>
              <a:srgbClr val="F0F1FD">
                <a:alpha val="0"/>
              </a:srgbClr>
            </a:solidFill>
            <a:prstDash val="solid"/>
          </a:ln>
        </p:spPr>
      </p:sp>
      <p:sp>
        <p:nvSpPr>
          <p:cNvPr id="345" name="Shape 18">
            <a:extLst>
              <a:ext uri="{FF2B5EF4-FFF2-40B4-BE49-F238E27FC236}">
                <a16:creationId xmlns:a16="http://schemas.microsoft.com/office/drawing/2014/main" id="{FACF3947-E4F0-C97F-2B1B-63573590AF68}"/>
              </a:ext>
            </a:extLst>
          </p:cNvPr>
          <p:cNvSpPr/>
          <p:nvPr/>
        </p:nvSpPr>
        <p:spPr>
          <a:xfrm>
            <a:off x="2656994" y="5219031"/>
            <a:ext cx="2777067" cy="414868"/>
          </a:xfrm>
          <a:prstGeom prst="rect">
            <a:avLst/>
          </a:prstGeom>
          <a:solidFill>
            <a:srgbClr val="E8EAFB"/>
          </a:solidFill>
          <a:ln w="12700">
            <a:solidFill>
              <a:srgbClr val="E8EAFB">
                <a:alpha val="0"/>
              </a:srgbClr>
            </a:solidFill>
            <a:prstDash val="solid"/>
          </a:ln>
        </p:spPr>
      </p:sp>
      <p:sp>
        <p:nvSpPr>
          <p:cNvPr id="346" name="Shape 24">
            <a:extLst>
              <a:ext uri="{FF2B5EF4-FFF2-40B4-BE49-F238E27FC236}">
                <a16:creationId xmlns:a16="http://schemas.microsoft.com/office/drawing/2014/main" id="{78CF6944-7721-F0A8-AAFB-5FD27E0B8225}"/>
              </a:ext>
            </a:extLst>
          </p:cNvPr>
          <p:cNvSpPr/>
          <p:nvPr/>
        </p:nvSpPr>
        <p:spPr>
          <a:xfrm>
            <a:off x="5434060" y="5219031"/>
            <a:ext cx="5554133" cy="414867"/>
          </a:xfrm>
          <a:prstGeom prst="rect">
            <a:avLst/>
          </a:prstGeom>
          <a:solidFill>
            <a:srgbClr val="DDE1F8"/>
          </a:solidFill>
          <a:ln w="12700">
            <a:solidFill>
              <a:srgbClr val="DDE1F8">
                <a:alpha val="0"/>
              </a:srgbClr>
            </a:solidFill>
            <a:prstDash val="solid"/>
          </a:ln>
        </p:spPr>
      </p:sp>
      <p:sp>
        <p:nvSpPr>
          <p:cNvPr id="347" name="Shape 30">
            <a:extLst>
              <a:ext uri="{FF2B5EF4-FFF2-40B4-BE49-F238E27FC236}">
                <a16:creationId xmlns:a16="http://schemas.microsoft.com/office/drawing/2014/main" id="{140011F2-7451-B3B0-8CF3-C04B4B24602C}"/>
              </a:ext>
            </a:extLst>
          </p:cNvPr>
          <p:cNvSpPr/>
          <p:nvPr/>
        </p:nvSpPr>
        <p:spPr>
          <a:xfrm>
            <a:off x="1124527" y="5430699"/>
            <a:ext cx="10007600" cy="0"/>
          </a:xfrm>
          <a:prstGeom prst="line">
            <a:avLst/>
          </a:prstGeom>
          <a:noFill/>
          <a:ln w="13547">
            <a:solidFill>
              <a:srgbClr val="68798D"/>
            </a:solidFill>
            <a:prstDash val="solid"/>
            <a:headEnd type="none"/>
            <a:tailEnd type="none"/>
          </a:ln>
        </p:spPr>
      </p:sp>
      <p:sp>
        <p:nvSpPr>
          <p:cNvPr id="348" name="Shape 31">
            <a:extLst>
              <a:ext uri="{FF2B5EF4-FFF2-40B4-BE49-F238E27FC236}">
                <a16:creationId xmlns:a16="http://schemas.microsoft.com/office/drawing/2014/main" id="{D3666B7E-8DC4-8E1A-E60D-D2BC71F1475D}"/>
              </a:ext>
            </a:extLst>
          </p:cNvPr>
          <p:cNvSpPr/>
          <p:nvPr/>
        </p:nvSpPr>
        <p:spPr>
          <a:xfrm>
            <a:off x="1268460" y="5227499"/>
            <a:ext cx="0" cy="414867"/>
          </a:xfrm>
          <a:prstGeom prst="line">
            <a:avLst/>
          </a:prstGeom>
          <a:noFill/>
          <a:ln w="1693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49" name="Shape 32">
            <a:extLst>
              <a:ext uri="{FF2B5EF4-FFF2-40B4-BE49-F238E27FC236}">
                <a16:creationId xmlns:a16="http://schemas.microsoft.com/office/drawing/2014/main" id="{D53D22F8-D349-B4C8-6065-282A190D2C02}"/>
              </a:ext>
            </a:extLst>
          </p:cNvPr>
          <p:cNvSpPr/>
          <p:nvPr/>
        </p:nvSpPr>
        <p:spPr>
          <a:xfrm>
            <a:off x="1236287" y="5398525"/>
            <a:ext cx="64347" cy="6434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50" name="Shape 33">
            <a:extLst>
              <a:ext uri="{FF2B5EF4-FFF2-40B4-BE49-F238E27FC236}">
                <a16:creationId xmlns:a16="http://schemas.microsoft.com/office/drawing/2014/main" id="{C1ADC5AF-0D95-DEF7-DBE8-6FCABC1CFF7E}"/>
              </a:ext>
            </a:extLst>
          </p:cNvPr>
          <p:cNvSpPr/>
          <p:nvPr/>
        </p:nvSpPr>
        <p:spPr>
          <a:xfrm>
            <a:off x="14420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51" name="Shape 34">
            <a:extLst>
              <a:ext uri="{FF2B5EF4-FFF2-40B4-BE49-F238E27FC236}">
                <a16:creationId xmlns:a16="http://schemas.microsoft.com/office/drawing/2014/main" id="{41F0E15A-FEA2-02C5-4B86-C29AF0EB2237}"/>
              </a:ext>
            </a:extLst>
          </p:cNvPr>
          <p:cNvSpPr/>
          <p:nvPr/>
        </p:nvSpPr>
        <p:spPr>
          <a:xfrm>
            <a:off x="14174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52" name="Shape 35">
            <a:extLst>
              <a:ext uri="{FF2B5EF4-FFF2-40B4-BE49-F238E27FC236}">
                <a16:creationId xmlns:a16="http://schemas.microsoft.com/office/drawing/2014/main" id="{ED24DB26-7BA3-BA95-5AA8-E11329DEADF2}"/>
              </a:ext>
            </a:extLst>
          </p:cNvPr>
          <p:cNvSpPr/>
          <p:nvPr/>
        </p:nvSpPr>
        <p:spPr>
          <a:xfrm>
            <a:off x="1615594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53" name="Shape 36">
            <a:extLst>
              <a:ext uri="{FF2B5EF4-FFF2-40B4-BE49-F238E27FC236}">
                <a16:creationId xmlns:a16="http://schemas.microsoft.com/office/drawing/2014/main" id="{3B7F16F6-D9AC-D6EA-D7EF-6D4F62A9C4C5}"/>
              </a:ext>
            </a:extLst>
          </p:cNvPr>
          <p:cNvSpPr/>
          <p:nvPr/>
        </p:nvSpPr>
        <p:spPr>
          <a:xfrm>
            <a:off x="1591040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54" name="Shape 37">
            <a:extLst>
              <a:ext uri="{FF2B5EF4-FFF2-40B4-BE49-F238E27FC236}">
                <a16:creationId xmlns:a16="http://schemas.microsoft.com/office/drawing/2014/main" id="{40D4951E-E0CC-AB92-00DA-6BD3ED40716C}"/>
              </a:ext>
            </a:extLst>
          </p:cNvPr>
          <p:cNvSpPr/>
          <p:nvPr/>
        </p:nvSpPr>
        <p:spPr>
          <a:xfrm>
            <a:off x="1789160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55" name="Shape 38">
            <a:extLst>
              <a:ext uri="{FF2B5EF4-FFF2-40B4-BE49-F238E27FC236}">
                <a16:creationId xmlns:a16="http://schemas.microsoft.com/office/drawing/2014/main" id="{A393D494-1148-FD1D-9336-B32E003EC6F9}"/>
              </a:ext>
            </a:extLst>
          </p:cNvPr>
          <p:cNvSpPr/>
          <p:nvPr/>
        </p:nvSpPr>
        <p:spPr>
          <a:xfrm>
            <a:off x="1764607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56" name="Shape 39">
            <a:extLst>
              <a:ext uri="{FF2B5EF4-FFF2-40B4-BE49-F238E27FC236}">
                <a16:creationId xmlns:a16="http://schemas.microsoft.com/office/drawing/2014/main" id="{D3243F77-9142-0712-B8CC-03D9A5794C63}"/>
              </a:ext>
            </a:extLst>
          </p:cNvPr>
          <p:cNvSpPr/>
          <p:nvPr/>
        </p:nvSpPr>
        <p:spPr>
          <a:xfrm>
            <a:off x="19627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57" name="Shape 40">
            <a:extLst>
              <a:ext uri="{FF2B5EF4-FFF2-40B4-BE49-F238E27FC236}">
                <a16:creationId xmlns:a16="http://schemas.microsoft.com/office/drawing/2014/main" id="{D8B07FF1-F600-8D40-A427-7137A6E56578}"/>
              </a:ext>
            </a:extLst>
          </p:cNvPr>
          <p:cNvSpPr/>
          <p:nvPr/>
        </p:nvSpPr>
        <p:spPr>
          <a:xfrm>
            <a:off x="19381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58" name="Shape 41">
            <a:extLst>
              <a:ext uri="{FF2B5EF4-FFF2-40B4-BE49-F238E27FC236}">
                <a16:creationId xmlns:a16="http://schemas.microsoft.com/office/drawing/2014/main" id="{ADCF3DB2-BF6D-1A7C-0032-E3E5BA1FD634}"/>
              </a:ext>
            </a:extLst>
          </p:cNvPr>
          <p:cNvSpPr/>
          <p:nvPr/>
        </p:nvSpPr>
        <p:spPr>
          <a:xfrm>
            <a:off x="2136294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59" name="Shape 42">
            <a:extLst>
              <a:ext uri="{FF2B5EF4-FFF2-40B4-BE49-F238E27FC236}">
                <a16:creationId xmlns:a16="http://schemas.microsoft.com/office/drawing/2014/main" id="{0C2A5B65-E6EC-64D6-813E-6ECB32B222E6}"/>
              </a:ext>
            </a:extLst>
          </p:cNvPr>
          <p:cNvSpPr/>
          <p:nvPr/>
        </p:nvSpPr>
        <p:spPr>
          <a:xfrm>
            <a:off x="2111740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60" name="Shape 43">
            <a:extLst>
              <a:ext uri="{FF2B5EF4-FFF2-40B4-BE49-F238E27FC236}">
                <a16:creationId xmlns:a16="http://schemas.microsoft.com/office/drawing/2014/main" id="{B64B49FC-9B7E-16B0-53E3-73926292D58E}"/>
              </a:ext>
            </a:extLst>
          </p:cNvPr>
          <p:cNvSpPr/>
          <p:nvPr/>
        </p:nvSpPr>
        <p:spPr>
          <a:xfrm>
            <a:off x="2309860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61" name="Shape 44">
            <a:extLst>
              <a:ext uri="{FF2B5EF4-FFF2-40B4-BE49-F238E27FC236}">
                <a16:creationId xmlns:a16="http://schemas.microsoft.com/office/drawing/2014/main" id="{1DACAB62-90B9-193B-8D3A-F2800975D883}"/>
              </a:ext>
            </a:extLst>
          </p:cNvPr>
          <p:cNvSpPr/>
          <p:nvPr/>
        </p:nvSpPr>
        <p:spPr>
          <a:xfrm>
            <a:off x="2285307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62" name="Shape 45">
            <a:extLst>
              <a:ext uri="{FF2B5EF4-FFF2-40B4-BE49-F238E27FC236}">
                <a16:creationId xmlns:a16="http://schemas.microsoft.com/office/drawing/2014/main" id="{3490798B-232F-FC7F-8AFD-4691F650E9F4}"/>
              </a:ext>
            </a:extLst>
          </p:cNvPr>
          <p:cNvSpPr/>
          <p:nvPr/>
        </p:nvSpPr>
        <p:spPr>
          <a:xfrm>
            <a:off x="24834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63" name="Shape 46">
            <a:extLst>
              <a:ext uri="{FF2B5EF4-FFF2-40B4-BE49-F238E27FC236}">
                <a16:creationId xmlns:a16="http://schemas.microsoft.com/office/drawing/2014/main" id="{E521582A-F7BD-EF1E-C775-5E93DF722400}"/>
              </a:ext>
            </a:extLst>
          </p:cNvPr>
          <p:cNvSpPr/>
          <p:nvPr/>
        </p:nvSpPr>
        <p:spPr>
          <a:xfrm>
            <a:off x="24588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64" name="Shape 47">
            <a:extLst>
              <a:ext uri="{FF2B5EF4-FFF2-40B4-BE49-F238E27FC236}">
                <a16:creationId xmlns:a16="http://schemas.microsoft.com/office/drawing/2014/main" id="{0AFAB4F6-E989-6E40-ED61-1771F52DFA70}"/>
              </a:ext>
            </a:extLst>
          </p:cNvPr>
          <p:cNvSpPr/>
          <p:nvPr/>
        </p:nvSpPr>
        <p:spPr>
          <a:xfrm>
            <a:off x="2656994" y="5227499"/>
            <a:ext cx="0" cy="414867"/>
          </a:xfrm>
          <a:prstGeom prst="line">
            <a:avLst/>
          </a:prstGeom>
          <a:noFill/>
          <a:ln w="1693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65" name="Shape 48">
            <a:extLst>
              <a:ext uri="{FF2B5EF4-FFF2-40B4-BE49-F238E27FC236}">
                <a16:creationId xmlns:a16="http://schemas.microsoft.com/office/drawing/2014/main" id="{C387F42E-DF6B-B0BD-2920-544751C5C0FB}"/>
              </a:ext>
            </a:extLst>
          </p:cNvPr>
          <p:cNvSpPr/>
          <p:nvPr/>
        </p:nvSpPr>
        <p:spPr>
          <a:xfrm>
            <a:off x="2624820" y="5398525"/>
            <a:ext cx="64347" cy="6434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66" name="Shape 49">
            <a:extLst>
              <a:ext uri="{FF2B5EF4-FFF2-40B4-BE49-F238E27FC236}">
                <a16:creationId xmlns:a16="http://schemas.microsoft.com/office/drawing/2014/main" id="{A0166CCA-24DC-8642-91EB-A8830C5768E0}"/>
              </a:ext>
            </a:extLst>
          </p:cNvPr>
          <p:cNvSpPr/>
          <p:nvPr/>
        </p:nvSpPr>
        <p:spPr>
          <a:xfrm>
            <a:off x="30041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67" name="Shape 50">
            <a:extLst>
              <a:ext uri="{FF2B5EF4-FFF2-40B4-BE49-F238E27FC236}">
                <a16:creationId xmlns:a16="http://schemas.microsoft.com/office/drawing/2014/main" id="{DF55EBF8-F19F-095B-A244-F56870E1FBBB}"/>
              </a:ext>
            </a:extLst>
          </p:cNvPr>
          <p:cNvSpPr/>
          <p:nvPr/>
        </p:nvSpPr>
        <p:spPr>
          <a:xfrm>
            <a:off x="29795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68" name="Shape 51">
            <a:extLst>
              <a:ext uri="{FF2B5EF4-FFF2-40B4-BE49-F238E27FC236}">
                <a16:creationId xmlns:a16="http://schemas.microsoft.com/office/drawing/2014/main" id="{53DD796F-11E7-40C9-B1E9-971F1AC1BAEE}"/>
              </a:ext>
            </a:extLst>
          </p:cNvPr>
          <p:cNvSpPr/>
          <p:nvPr/>
        </p:nvSpPr>
        <p:spPr>
          <a:xfrm>
            <a:off x="3351260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69" name="Shape 52">
            <a:extLst>
              <a:ext uri="{FF2B5EF4-FFF2-40B4-BE49-F238E27FC236}">
                <a16:creationId xmlns:a16="http://schemas.microsoft.com/office/drawing/2014/main" id="{E896F5B8-180D-AFAB-0ADE-DBC106353AFC}"/>
              </a:ext>
            </a:extLst>
          </p:cNvPr>
          <p:cNvSpPr/>
          <p:nvPr/>
        </p:nvSpPr>
        <p:spPr>
          <a:xfrm>
            <a:off x="3326707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70" name="Shape 53">
            <a:extLst>
              <a:ext uri="{FF2B5EF4-FFF2-40B4-BE49-F238E27FC236}">
                <a16:creationId xmlns:a16="http://schemas.microsoft.com/office/drawing/2014/main" id="{24DD88DE-3DC3-ACBD-A8F3-EA42BFFF2126}"/>
              </a:ext>
            </a:extLst>
          </p:cNvPr>
          <p:cNvSpPr/>
          <p:nvPr/>
        </p:nvSpPr>
        <p:spPr>
          <a:xfrm>
            <a:off x="3698394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71" name="Shape 54">
            <a:extLst>
              <a:ext uri="{FF2B5EF4-FFF2-40B4-BE49-F238E27FC236}">
                <a16:creationId xmlns:a16="http://schemas.microsoft.com/office/drawing/2014/main" id="{88AC2A4E-2F4B-EC74-DB3B-B60F14076607}"/>
              </a:ext>
            </a:extLst>
          </p:cNvPr>
          <p:cNvSpPr/>
          <p:nvPr/>
        </p:nvSpPr>
        <p:spPr>
          <a:xfrm>
            <a:off x="3673840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72" name="Shape 55">
            <a:extLst>
              <a:ext uri="{FF2B5EF4-FFF2-40B4-BE49-F238E27FC236}">
                <a16:creationId xmlns:a16="http://schemas.microsoft.com/office/drawing/2014/main" id="{D129A959-4AB9-0301-55F1-36192AF51EA5}"/>
              </a:ext>
            </a:extLst>
          </p:cNvPr>
          <p:cNvSpPr/>
          <p:nvPr/>
        </p:nvSpPr>
        <p:spPr>
          <a:xfrm>
            <a:off x="40455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73" name="Shape 56">
            <a:extLst>
              <a:ext uri="{FF2B5EF4-FFF2-40B4-BE49-F238E27FC236}">
                <a16:creationId xmlns:a16="http://schemas.microsoft.com/office/drawing/2014/main" id="{0D5D7E0F-4999-AFB9-0A60-6170C29DAEAF}"/>
              </a:ext>
            </a:extLst>
          </p:cNvPr>
          <p:cNvSpPr/>
          <p:nvPr/>
        </p:nvSpPr>
        <p:spPr>
          <a:xfrm>
            <a:off x="40209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74" name="Shape 57">
            <a:extLst>
              <a:ext uri="{FF2B5EF4-FFF2-40B4-BE49-F238E27FC236}">
                <a16:creationId xmlns:a16="http://schemas.microsoft.com/office/drawing/2014/main" id="{2AAEF361-53CC-1FBE-6D51-B7E1B26755A5}"/>
              </a:ext>
            </a:extLst>
          </p:cNvPr>
          <p:cNvSpPr/>
          <p:nvPr/>
        </p:nvSpPr>
        <p:spPr>
          <a:xfrm>
            <a:off x="4392660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75" name="Shape 58">
            <a:extLst>
              <a:ext uri="{FF2B5EF4-FFF2-40B4-BE49-F238E27FC236}">
                <a16:creationId xmlns:a16="http://schemas.microsoft.com/office/drawing/2014/main" id="{E935BB72-EF57-9838-E9FB-FD2B85019C5D}"/>
              </a:ext>
            </a:extLst>
          </p:cNvPr>
          <p:cNvSpPr/>
          <p:nvPr/>
        </p:nvSpPr>
        <p:spPr>
          <a:xfrm>
            <a:off x="4368107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76" name="Shape 59">
            <a:extLst>
              <a:ext uri="{FF2B5EF4-FFF2-40B4-BE49-F238E27FC236}">
                <a16:creationId xmlns:a16="http://schemas.microsoft.com/office/drawing/2014/main" id="{0D4E0D2E-BDE6-7719-9AFA-29C806266DE5}"/>
              </a:ext>
            </a:extLst>
          </p:cNvPr>
          <p:cNvSpPr/>
          <p:nvPr/>
        </p:nvSpPr>
        <p:spPr>
          <a:xfrm>
            <a:off x="4739794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77" name="Shape 60">
            <a:extLst>
              <a:ext uri="{FF2B5EF4-FFF2-40B4-BE49-F238E27FC236}">
                <a16:creationId xmlns:a16="http://schemas.microsoft.com/office/drawing/2014/main" id="{F8683619-37FB-72AA-391E-FACDDAF4809E}"/>
              </a:ext>
            </a:extLst>
          </p:cNvPr>
          <p:cNvSpPr/>
          <p:nvPr/>
        </p:nvSpPr>
        <p:spPr>
          <a:xfrm>
            <a:off x="4715240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78" name="Shape 61">
            <a:extLst>
              <a:ext uri="{FF2B5EF4-FFF2-40B4-BE49-F238E27FC236}">
                <a16:creationId xmlns:a16="http://schemas.microsoft.com/office/drawing/2014/main" id="{E03FDA78-7239-0192-0FA5-06D76FCA3852}"/>
              </a:ext>
            </a:extLst>
          </p:cNvPr>
          <p:cNvSpPr/>
          <p:nvPr/>
        </p:nvSpPr>
        <p:spPr>
          <a:xfrm>
            <a:off x="50869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79" name="Shape 62">
            <a:extLst>
              <a:ext uri="{FF2B5EF4-FFF2-40B4-BE49-F238E27FC236}">
                <a16:creationId xmlns:a16="http://schemas.microsoft.com/office/drawing/2014/main" id="{7B213C9D-2CD4-0B1C-51A7-A1ED95FD7302}"/>
              </a:ext>
            </a:extLst>
          </p:cNvPr>
          <p:cNvSpPr/>
          <p:nvPr/>
        </p:nvSpPr>
        <p:spPr>
          <a:xfrm>
            <a:off x="50623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80" name="Shape 63">
            <a:extLst>
              <a:ext uri="{FF2B5EF4-FFF2-40B4-BE49-F238E27FC236}">
                <a16:creationId xmlns:a16="http://schemas.microsoft.com/office/drawing/2014/main" id="{7776B268-4610-4518-0175-78AF63E1CB23}"/>
              </a:ext>
            </a:extLst>
          </p:cNvPr>
          <p:cNvSpPr/>
          <p:nvPr/>
        </p:nvSpPr>
        <p:spPr>
          <a:xfrm>
            <a:off x="5434060" y="5227499"/>
            <a:ext cx="0" cy="414867"/>
          </a:xfrm>
          <a:prstGeom prst="line">
            <a:avLst/>
          </a:prstGeom>
          <a:noFill/>
          <a:ln w="1693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81" name="Shape 64">
            <a:extLst>
              <a:ext uri="{FF2B5EF4-FFF2-40B4-BE49-F238E27FC236}">
                <a16:creationId xmlns:a16="http://schemas.microsoft.com/office/drawing/2014/main" id="{F472C8D3-162A-95E8-A1C3-12684DCDAB97}"/>
              </a:ext>
            </a:extLst>
          </p:cNvPr>
          <p:cNvSpPr/>
          <p:nvPr/>
        </p:nvSpPr>
        <p:spPr>
          <a:xfrm>
            <a:off x="5401887" y="5398525"/>
            <a:ext cx="64347" cy="6434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82" name="Shape 65">
            <a:extLst>
              <a:ext uri="{FF2B5EF4-FFF2-40B4-BE49-F238E27FC236}">
                <a16:creationId xmlns:a16="http://schemas.microsoft.com/office/drawing/2014/main" id="{C00EE472-3239-6409-3429-E9793BB4C136}"/>
              </a:ext>
            </a:extLst>
          </p:cNvPr>
          <p:cNvSpPr/>
          <p:nvPr/>
        </p:nvSpPr>
        <p:spPr>
          <a:xfrm>
            <a:off x="61283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83" name="Shape 66">
            <a:extLst>
              <a:ext uri="{FF2B5EF4-FFF2-40B4-BE49-F238E27FC236}">
                <a16:creationId xmlns:a16="http://schemas.microsoft.com/office/drawing/2014/main" id="{BF1DCE32-5DED-4BF9-854C-8FD5F1ACA50A}"/>
              </a:ext>
            </a:extLst>
          </p:cNvPr>
          <p:cNvSpPr/>
          <p:nvPr/>
        </p:nvSpPr>
        <p:spPr>
          <a:xfrm>
            <a:off x="61037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84" name="Shape 67">
            <a:extLst>
              <a:ext uri="{FF2B5EF4-FFF2-40B4-BE49-F238E27FC236}">
                <a16:creationId xmlns:a16="http://schemas.microsoft.com/office/drawing/2014/main" id="{458F372D-D51E-758C-3003-A5F1BA984678}"/>
              </a:ext>
            </a:extLst>
          </p:cNvPr>
          <p:cNvSpPr/>
          <p:nvPr/>
        </p:nvSpPr>
        <p:spPr>
          <a:xfrm>
            <a:off x="6822594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85" name="Shape 68">
            <a:extLst>
              <a:ext uri="{FF2B5EF4-FFF2-40B4-BE49-F238E27FC236}">
                <a16:creationId xmlns:a16="http://schemas.microsoft.com/office/drawing/2014/main" id="{64CD7A57-82A2-7D8D-E780-307B88A576A4}"/>
              </a:ext>
            </a:extLst>
          </p:cNvPr>
          <p:cNvSpPr/>
          <p:nvPr/>
        </p:nvSpPr>
        <p:spPr>
          <a:xfrm>
            <a:off x="6798040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86" name="Shape 69">
            <a:extLst>
              <a:ext uri="{FF2B5EF4-FFF2-40B4-BE49-F238E27FC236}">
                <a16:creationId xmlns:a16="http://schemas.microsoft.com/office/drawing/2014/main" id="{CAE417BE-C1E5-BF71-2EA6-610F4B0843B9}"/>
              </a:ext>
            </a:extLst>
          </p:cNvPr>
          <p:cNvSpPr/>
          <p:nvPr/>
        </p:nvSpPr>
        <p:spPr>
          <a:xfrm>
            <a:off x="7516860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87" name="Shape 70">
            <a:extLst>
              <a:ext uri="{FF2B5EF4-FFF2-40B4-BE49-F238E27FC236}">
                <a16:creationId xmlns:a16="http://schemas.microsoft.com/office/drawing/2014/main" id="{E37FA2A0-DE28-262C-CEDB-787FACAA2D84}"/>
              </a:ext>
            </a:extLst>
          </p:cNvPr>
          <p:cNvSpPr/>
          <p:nvPr/>
        </p:nvSpPr>
        <p:spPr>
          <a:xfrm>
            <a:off x="7492307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88" name="Shape 71">
            <a:extLst>
              <a:ext uri="{FF2B5EF4-FFF2-40B4-BE49-F238E27FC236}">
                <a16:creationId xmlns:a16="http://schemas.microsoft.com/office/drawing/2014/main" id="{777D9550-C4CB-6574-BD4E-AFD95BBFF8CE}"/>
              </a:ext>
            </a:extLst>
          </p:cNvPr>
          <p:cNvSpPr/>
          <p:nvPr/>
        </p:nvSpPr>
        <p:spPr>
          <a:xfrm>
            <a:off x="82111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89" name="Shape 72">
            <a:extLst>
              <a:ext uri="{FF2B5EF4-FFF2-40B4-BE49-F238E27FC236}">
                <a16:creationId xmlns:a16="http://schemas.microsoft.com/office/drawing/2014/main" id="{49A780CE-4424-9C29-5AD1-EC6982A7324F}"/>
              </a:ext>
            </a:extLst>
          </p:cNvPr>
          <p:cNvSpPr/>
          <p:nvPr/>
        </p:nvSpPr>
        <p:spPr>
          <a:xfrm>
            <a:off x="81865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90" name="Shape 73">
            <a:extLst>
              <a:ext uri="{FF2B5EF4-FFF2-40B4-BE49-F238E27FC236}">
                <a16:creationId xmlns:a16="http://schemas.microsoft.com/office/drawing/2014/main" id="{83589D28-463D-12AA-6173-31689B164843}"/>
              </a:ext>
            </a:extLst>
          </p:cNvPr>
          <p:cNvSpPr/>
          <p:nvPr/>
        </p:nvSpPr>
        <p:spPr>
          <a:xfrm>
            <a:off x="8905394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91" name="Shape 74">
            <a:extLst>
              <a:ext uri="{FF2B5EF4-FFF2-40B4-BE49-F238E27FC236}">
                <a16:creationId xmlns:a16="http://schemas.microsoft.com/office/drawing/2014/main" id="{8854EE98-A86C-6850-5536-4E3826C1CFE0}"/>
              </a:ext>
            </a:extLst>
          </p:cNvPr>
          <p:cNvSpPr/>
          <p:nvPr/>
        </p:nvSpPr>
        <p:spPr>
          <a:xfrm>
            <a:off x="8880840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92" name="Shape 75">
            <a:extLst>
              <a:ext uri="{FF2B5EF4-FFF2-40B4-BE49-F238E27FC236}">
                <a16:creationId xmlns:a16="http://schemas.microsoft.com/office/drawing/2014/main" id="{27151D89-B9B2-3A65-90C5-2F07D8B46CEF}"/>
              </a:ext>
            </a:extLst>
          </p:cNvPr>
          <p:cNvSpPr/>
          <p:nvPr/>
        </p:nvSpPr>
        <p:spPr>
          <a:xfrm>
            <a:off x="9599660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93" name="Shape 76">
            <a:extLst>
              <a:ext uri="{FF2B5EF4-FFF2-40B4-BE49-F238E27FC236}">
                <a16:creationId xmlns:a16="http://schemas.microsoft.com/office/drawing/2014/main" id="{A1ED0BCB-EE16-A608-0243-DB67DE397DB6}"/>
              </a:ext>
            </a:extLst>
          </p:cNvPr>
          <p:cNvSpPr/>
          <p:nvPr/>
        </p:nvSpPr>
        <p:spPr>
          <a:xfrm>
            <a:off x="9575107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94" name="Shape 77">
            <a:extLst>
              <a:ext uri="{FF2B5EF4-FFF2-40B4-BE49-F238E27FC236}">
                <a16:creationId xmlns:a16="http://schemas.microsoft.com/office/drawing/2014/main" id="{E46D775E-B533-A8B1-1A4E-07404ED21C44}"/>
              </a:ext>
            </a:extLst>
          </p:cNvPr>
          <p:cNvSpPr/>
          <p:nvPr/>
        </p:nvSpPr>
        <p:spPr>
          <a:xfrm>
            <a:off x="10293927" y="5312165"/>
            <a:ext cx="0" cy="237067"/>
          </a:xfrm>
          <a:prstGeom prst="line">
            <a:avLst/>
          </a:prstGeom>
          <a:noFill/>
          <a:ln w="1185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95" name="Shape 78">
            <a:extLst>
              <a:ext uri="{FF2B5EF4-FFF2-40B4-BE49-F238E27FC236}">
                <a16:creationId xmlns:a16="http://schemas.microsoft.com/office/drawing/2014/main" id="{C5DF8269-0A2B-5892-0552-88D404FC8449}"/>
              </a:ext>
            </a:extLst>
          </p:cNvPr>
          <p:cNvSpPr/>
          <p:nvPr/>
        </p:nvSpPr>
        <p:spPr>
          <a:xfrm>
            <a:off x="10269374" y="5406145"/>
            <a:ext cx="49107" cy="4910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96" name="Shape 79">
            <a:extLst>
              <a:ext uri="{FF2B5EF4-FFF2-40B4-BE49-F238E27FC236}">
                <a16:creationId xmlns:a16="http://schemas.microsoft.com/office/drawing/2014/main" id="{5231FBD3-347F-EE3B-F31D-94B10B1957D4}"/>
              </a:ext>
            </a:extLst>
          </p:cNvPr>
          <p:cNvSpPr/>
          <p:nvPr/>
        </p:nvSpPr>
        <p:spPr>
          <a:xfrm>
            <a:off x="10988194" y="5227499"/>
            <a:ext cx="0" cy="414867"/>
          </a:xfrm>
          <a:prstGeom prst="line">
            <a:avLst/>
          </a:prstGeom>
          <a:noFill/>
          <a:ln w="16933">
            <a:solidFill>
              <a:srgbClr val="515EC2"/>
            </a:solidFill>
            <a:prstDash val="solid"/>
            <a:headEnd type="none"/>
            <a:tailEnd type="none"/>
          </a:ln>
        </p:spPr>
      </p:sp>
      <p:sp>
        <p:nvSpPr>
          <p:cNvPr id="397" name="Shape 80">
            <a:extLst>
              <a:ext uri="{FF2B5EF4-FFF2-40B4-BE49-F238E27FC236}">
                <a16:creationId xmlns:a16="http://schemas.microsoft.com/office/drawing/2014/main" id="{6310935B-7BEF-3FD0-7C9A-AF0A93D46B72}"/>
              </a:ext>
            </a:extLst>
          </p:cNvPr>
          <p:cNvSpPr/>
          <p:nvPr/>
        </p:nvSpPr>
        <p:spPr>
          <a:xfrm>
            <a:off x="10956020" y="5398525"/>
            <a:ext cx="64347" cy="6434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9177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7" y="648101"/>
            <a:ext cx="7897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一些特殊浮点值的表示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ABCC66-1FF8-7C4B-9A96-D29ED88AE8AE}"/>
                  </a:ext>
                </a:extLst>
              </p:cNvPr>
              <p:cNvSpPr txBox="1"/>
              <p:nvPr/>
            </p:nvSpPr>
            <p:spPr>
              <a:xfrm>
                <a:off x="268437" y="1232876"/>
                <a:ext cx="9604424" cy="52024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+0.0 &amp; - 0.0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：类似原码的编码方式</a:t>
                </a:r>
                <a:endParaRPr kumimoji="1" lang="en-US" altLang="zh-CN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800" dirty="0">
                    <a:solidFill>
                      <a:prstClr val="black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1</a:t>
                </a:r>
                <a:r>
                  <a:rPr lang="zh-CN" altLang="en-US" sz="1800" dirty="0">
                    <a:solidFill>
                      <a:prstClr val="black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800" dirty="0">
                    <a:solidFill>
                      <a:prstClr val="black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=</a:t>
                </a:r>
                <a:r>
                  <a:rPr lang="zh-CN" altLang="en-US" sz="1800" dirty="0">
                    <a:solidFill>
                      <a:prstClr val="black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800" dirty="0">
                    <a:solidFill>
                      <a:prstClr val="black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0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011...11</a:t>
                </a:r>
                <a:r>
                  <a:rPr lang="en-US" altLang="zh-CN" sz="1800" dirty="0">
                    <a:solidFill>
                      <a:prstClr val="black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000...00</a:t>
                </a:r>
                <a:endParaRPr kumimoji="1" lang="en-US" altLang="zh-CN" sz="1800" dirty="0">
                  <a:solidFill>
                    <a:prstClr val="black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</a:rPr>
                      <m:t>𝐵𝑖𝑎𝑠</m:t>
                    </m:r>
                  </m:oMath>
                </a14:m>
                <a:r>
                  <a:rPr lang="zh-CN" altLang="en-US" dirty="0">
                    <a:solidFill>
                      <a:prstClr val="black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的位模式：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011...11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Consolas" panose="020B0609020204030204" pitchFamily="49" charset="0"/>
                      </a:rPr>
                      <m:t>𝑘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Consolas" panose="020B0609020204030204" pitchFamily="49" charset="0"/>
                      </a:rPr>
                      <m:t>, 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Consolas" panose="020B0609020204030204" pitchFamily="49" charset="0"/>
                      </a:rPr>
                      <m:t>𝑛</m:t>
                    </m:r>
                  </m:oMath>
                </a14:m>
                <a:r>
                  <a:rPr kumimoji="1" lang="zh-CN" altLang="en-US" b="0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：</a:t>
                </a:r>
                <a:r>
                  <a:rPr kumimoji="1" lang="en-US" altLang="zh-CN" b="0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exp</a:t>
                </a:r>
                <a:r>
                  <a:rPr kumimoji="1" lang="zh-CN" altLang="en-US" b="0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和 </a:t>
                </a:r>
                <a:r>
                  <a:rPr kumimoji="1" lang="en-US" altLang="zh-CN" b="0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frac </a:t>
                </a:r>
                <a:r>
                  <a:rPr kumimoji="1" lang="zh-CN" altLang="en-US" b="0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的位数</a:t>
                </a:r>
                <a:endParaRPr kumimoji="1" lang="en-US" altLang="zh-CN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最小非规格化值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（仅考虑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非负数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）</a:t>
                </a:r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   	0 0…00 0…01 	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最大非规格化值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（仅考虑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非负数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）</a:t>
                </a:r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    	0 0…00 1…11  	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最小规格化值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（仅考虑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非负数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）</a:t>
                </a:r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        	0 0…01 0…00 	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∗1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最大规格化值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（仅考虑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非负数</a:t>
                </a:r>
                <a:r>
                  <a:rPr kumimoji="1"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） </a:t>
                </a:r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	0 1…10 1…11 	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−1+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非规格化值范围</a:t>
                </a:r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规格化范围  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+mn-ea"/>
                      </a:rPr>
                      <m:t>[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begChr m:val="（"/>
                            <m:endChr m:val="）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,−2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  <a:sym typeface="+mn-ea"/>
                      </a:rPr>
                      <m:t>,]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∪[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−1+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]</m:t>
                    </m:r>
                  </m:oMath>
                </a14:m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ABCC66-1FF8-7C4B-9A96-D29ED88AE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7" y="1232876"/>
                <a:ext cx="9604424" cy="5202450"/>
              </a:xfrm>
              <a:prstGeom prst="rect">
                <a:avLst/>
              </a:prstGeom>
              <a:blipFill>
                <a:blip r:embed="rId2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10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0B36-36DB-8F59-A7FC-8107CBDC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14A74-54E0-CD21-52BB-9812F02E5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18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A1589-6F0E-0F15-178B-71D038C89EEC}"/>
              </a:ext>
            </a:extLst>
          </p:cNvPr>
          <p:cNvSpPr txBox="1"/>
          <p:nvPr/>
        </p:nvSpPr>
        <p:spPr>
          <a:xfrm>
            <a:off x="268438" y="648101"/>
            <a:ext cx="4785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浮点数的精度问题与</a:t>
            </a:r>
            <a:r>
              <a:rPr kumimoji="1" lang="zh-CN" altLang="en-CN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舍入</a:t>
            </a:r>
            <a:endParaRPr kumimoji="1" lang="zh-CN" altLang="en-US" sz="3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4E1AD-E8AD-09F1-825B-E92149DB4375}"/>
              </a:ext>
            </a:extLst>
          </p:cNvPr>
          <p:cNvSpPr txBox="1"/>
          <p:nvPr/>
        </p:nvSpPr>
        <p:spPr>
          <a:xfrm>
            <a:off x="268437" y="1232876"/>
            <a:ext cx="7370959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连续值离散化必然带来误差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向偶数舍入（</a:t>
            </a:r>
            <a:r>
              <a:rPr kumimoji="1" lang="en-US" altLang="zh-CN" dirty="0">
                <a:solidFill>
                  <a:srgbClr val="FF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round to even</a:t>
            </a:r>
            <a:r>
              <a:rPr kumimoji="1" lang="zh-CN" altLang="en-US" dirty="0">
                <a:solidFill>
                  <a:srgbClr val="FF0000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）</a:t>
            </a:r>
            <a:r>
              <a:rPr kumimoji="1" lang="zh-CN" altLang="en-US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：统计意义上的误差平衡</a:t>
            </a:r>
            <a:endParaRPr kumimoji="1" lang="en-US" altLang="zh-CN" dirty="0">
              <a:latin typeface="Calibri" panose="020F0502020204030204" pitchFamily="34" charset="0"/>
              <a:ea typeface="SimHe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" name="Editable panel">
            <a:extLst>
              <a:ext uri="{FF2B5EF4-FFF2-40B4-BE49-F238E27FC236}">
                <a16:creationId xmlns:a16="http://schemas.microsoft.com/office/drawing/2014/main" id="{6F07A158-94E0-1561-2802-9F2BAECEB851}"/>
              </a:ext>
            </a:extLst>
          </p:cNvPr>
          <p:cNvSpPr/>
          <p:nvPr/>
        </p:nvSpPr>
        <p:spPr>
          <a:xfrm>
            <a:off x="1482437" y="2932704"/>
            <a:ext cx="9144000" cy="220133"/>
          </a:xfrm>
          <a:prstGeom prst="rect">
            <a:avLst/>
          </a:prstGeom>
          <a:solidFill>
            <a:srgbClr val="F0F1FD"/>
          </a:solidFill>
          <a:ln w="12700">
            <a:solidFill>
              <a:srgbClr val="F0F1FD">
                <a:alpha val="0"/>
              </a:srgbClr>
            </a:solidFill>
            <a:prstDash val="solid"/>
          </a:ln>
        </p:spPr>
      </p:sp>
      <p:sp>
        <p:nvSpPr>
          <p:cNvPr id="4" name="Editable axis / arrow">
            <a:extLst>
              <a:ext uri="{FF2B5EF4-FFF2-40B4-BE49-F238E27FC236}">
                <a16:creationId xmlns:a16="http://schemas.microsoft.com/office/drawing/2014/main" id="{3D725BB7-BD59-49C0-42B5-CA1E27E15B64}"/>
              </a:ext>
            </a:extLst>
          </p:cNvPr>
          <p:cNvSpPr/>
          <p:nvPr/>
        </p:nvSpPr>
        <p:spPr>
          <a:xfrm>
            <a:off x="1330037" y="3042770"/>
            <a:ext cx="9448800" cy="0"/>
          </a:xfrm>
          <a:prstGeom prst="line">
            <a:avLst/>
          </a:prstGeom>
          <a:noFill/>
          <a:ln w="13547">
            <a:solidFill>
              <a:srgbClr val="68798D"/>
            </a:solidFill>
            <a:prstDash val="solid"/>
          </a:ln>
        </p:spPr>
      </p:sp>
      <p:sp>
        <p:nvSpPr>
          <p:cNvPr id="5" name="Editable axis / arrow">
            <a:extLst>
              <a:ext uri="{FF2B5EF4-FFF2-40B4-BE49-F238E27FC236}">
                <a16:creationId xmlns:a16="http://schemas.microsoft.com/office/drawing/2014/main" id="{25FDD830-1A1E-2872-A6BE-B4703CE10BEA}"/>
              </a:ext>
            </a:extLst>
          </p:cNvPr>
          <p:cNvSpPr/>
          <p:nvPr/>
        </p:nvSpPr>
        <p:spPr>
          <a:xfrm>
            <a:off x="1482437" y="2907304"/>
            <a:ext cx="0" cy="262467"/>
          </a:xfrm>
          <a:prstGeom prst="line">
            <a:avLst/>
          </a:prstGeom>
          <a:noFill/>
          <a:ln w="13547">
            <a:solidFill>
              <a:srgbClr val="157F79"/>
            </a:solidFill>
            <a:prstDash val="solid"/>
          </a:ln>
        </p:spPr>
      </p:sp>
      <p:sp>
        <p:nvSpPr>
          <p:cNvPr id="7" name="Editable number-line point">
            <a:extLst>
              <a:ext uri="{FF2B5EF4-FFF2-40B4-BE49-F238E27FC236}">
                <a16:creationId xmlns:a16="http://schemas.microsoft.com/office/drawing/2014/main" id="{5F1FE8D2-CA2D-B645-1F62-6CBC5B82C1F2}"/>
              </a:ext>
            </a:extLst>
          </p:cNvPr>
          <p:cNvSpPr/>
          <p:nvPr/>
        </p:nvSpPr>
        <p:spPr>
          <a:xfrm>
            <a:off x="1450264" y="3010597"/>
            <a:ext cx="64347" cy="64347"/>
          </a:xfrm>
          <a:prstGeom prst="ellipse">
            <a:avLst/>
          </a:prstGeom>
          <a:solidFill>
            <a:srgbClr val="157F79"/>
          </a:solidFill>
          <a:ln w="12700">
            <a:solidFill>
              <a:srgbClr val="157F79">
                <a:alpha val="0"/>
              </a:srgbClr>
            </a:solidFill>
            <a:prstDash val="solid"/>
          </a:ln>
        </p:spPr>
      </p:sp>
      <p:sp>
        <p:nvSpPr>
          <p:cNvPr id="8" name="2">
            <a:extLst>
              <a:ext uri="{FF2B5EF4-FFF2-40B4-BE49-F238E27FC236}">
                <a16:creationId xmlns:a16="http://schemas.microsoft.com/office/drawing/2014/main" id="{D560B1C6-99FB-AB00-9EDB-37D4CDAE5084}"/>
              </a:ext>
            </a:extLst>
          </p:cNvPr>
          <p:cNvSpPr/>
          <p:nvPr/>
        </p:nvSpPr>
        <p:spPr>
          <a:xfrm>
            <a:off x="923637" y="3222427"/>
            <a:ext cx="11176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Editable panel">
            <a:extLst>
              <a:ext uri="{FF2B5EF4-FFF2-40B4-BE49-F238E27FC236}">
                <a16:creationId xmlns:a16="http://schemas.microsoft.com/office/drawing/2014/main" id="{971B9F33-6C8E-6A1C-E9E2-CFFBDBD5507A}"/>
              </a:ext>
            </a:extLst>
          </p:cNvPr>
          <p:cNvSpPr/>
          <p:nvPr/>
        </p:nvSpPr>
        <p:spPr>
          <a:xfrm>
            <a:off x="737370" y="3483037"/>
            <a:ext cx="1490133" cy="254000"/>
          </a:xfrm>
          <a:prstGeom prst="roundRect">
            <a:avLst>
              <a:gd name="adj" fmla="val 20000"/>
            </a:avLst>
          </a:prstGeom>
          <a:solidFill>
            <a:srgbClr val="E6F3F0"/>
          </a:solidFill>
          <a:ln w="12700">
            <a:solidFill>
              <a:srgbClr val="E6F3F0">
                <a:alpha val="0"/>
              </a:srgbClr>
            </a:solidFill>
            <a:prstDash val="solid"/>
          </a:ln>
        </p:spPr>
      </p:sp>
      <p:sp>
        <p:nvSpPr>
          <p:cNvPr id="10" name="1.000₂ × 2¹">
            <a:extLst>
              <a:ext uri="{FF2B5EF4-FFF2-40B4-BE49-F238E27FC236}">
                <a16:creationId xmlns:a16="http://schemas.microsoft.com/office/drawing/2014/main" id="{5F5EB7C8-F39F-C033-7280-60450D75A528}"/>
              </a:ext>
            </a:extLst>
          </p:cNvPr>
          <p:cNvSpPr/>
          <p:nvPr/>
        </p:nvSpPr>
        <p:spPr>
          <a:xfrm>
            <a:off x="593437" y="3514250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1.00</a:t>
            </a:r>
            <a:r>
              <a:rPr lang="zh-CN" altLang="en-US" sz="1333" b="1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13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Editable axis / arrow">
            <a:extLst>
              <a:ext uri="{FF2B5EF4-FFF2-40B4-BE49-F238E27FC236}">
                <a16:creationId xmlns:a16="http://schemas.microsoft.com/office/drawing/2014/main" id="{E2ABCC6E-A384-BB11-B13B-92A5222669A7}"/>
              </a:ext>
            </a:extLst>
          </p:cNvPr>
          <p:cNvSpPr/>
          <p:nvPr/>
        </p:nvSpPr>
        <p:spPr>
          <a:xfrm>
            <a:off x="3311237" y="2907304"/>
            <a:ext cx="0" cy="262467"/>
          </a:xfrm>
          <a:prstGeom prst="line">
            <a:avLst/>
          </a:prstGeom>
          <a:noFill/>
          <a:ln w="13547">
            <a:solidFill>
              <a:srgbClr val="515EC2"/>
            </a:solidFill>
            <a:prstDash val="solid"/>
          </a:ln>
        </p:spPr>
      </p:sp>
      <p:sp>
        <p:nvSpPr>
          <p:cNvPr id="13" name="Editable number-line point">
            <a:extLst>
              <a:ext uri="{FF2B5EF4-FFF2-40B4-BE49-F238E27FC236}">
                <a16:creationId xmlns:a16="http://schemas.microsoft.com/office/drawing/2014/main" id="{24C58C80-F22B-975C-66D5-143779A8AAB8}"/>
              </a:ext>
            </a:extLst>
          </p:cNvPr>
          <p:cNvSpPr/>
          <p:nvPr/>
        </p:nvSpPr>
        <p:spPr>
          <a:xfrm>
            <a:off x="3279064" y="3010597"/>
            <a:ext cx="64347" cy="6434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14" name="2.25">
            <a:extLst>
              <a:ext uri="{FF2B5EF4-FFF2-40B4-BE49-F238E27FC236}">
                <a16:creationId xmlns:a16="http://schemas.microsoft.com/office/drawing/2014/main" id="{1B5B5FC6-71E9-76B1-DC05-56EF9EE3F4DD}"/>
              </a:ext>
            </a:extLst>
          </p:cNvPr>
          <p:cNvSpPr/>
          <p:nvPr/>
        </p:nvSpPr>
        <p:spPr>
          <a:xfrm>
            <a:off x="2752437" y="3222427"/>
            <a:ext cx="11176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2.25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1.001₂ × 2¹">
            <a:extLst>
              <a:ext uri="{FF2B5EF4-FFF2-40B4-BE49-F238E27FC236}">
                <a16:creationId xmlns:a16="http://schemas.microsoft.com/office/drawing/2014/main" id="{9CF55202-EC6E-3495-2A60-5FA880CA83F2}"/>
              </a:ext>
            </a:extLst>
          </p:cNvPr>
          <p:cNvSpPr/>
          <p:nvPr/>
        </p:nvSpPr>
        <p:spPr>
          <a:xfrm>
            <a:off x="2422237" y="3514250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1.00</a:t>
            </a:r>
            <a:r>
              <a:rPr lang="zh-CN" altLang="en-US" sz="1333" b="1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3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Editable axis / arrow">
            <a:extLst>
              <a:ext uri="{FF2B5EF4-FFF2-40B4-BE49-F238E27FC236}">
                <a16:creationId xmlns:a16="http://schemas.microsoft.com/office/drawing/2014/main" id="{7D1F478B-E9F8-CF39-08E2-97902E24F9C1}"/>
              </a:ext>
            </a:extLst>
          </p:cNvPr>
          <p:cNvSpPr/>
          <p:nvPr/>
        </p:nvSpPr>
        <p:spPr>
          <a:xfrm>
            <a:off x="5140037" y="2907304"/>
            <a:ext cx="0" cy="262467"/>
          </a:xfrm>
          <a:prstGeom prst="line">
            <a:avLst/>
          </a:prstGeom>
          <a:noFill/>
          <a:ln w="13547">
            <a:solidFill>
              <a:srgbClr val="157F79"/>
            </a:solidFill>
            <a:prstDash val="solid"/>
          </a:ln>
        </p:spPr>
      </p:sp>
      <p:sp>
        <p:nvSpPr>
          <p:cNvPr id="17" name="Editable number-line point">
            <a:extLst>
              <a:ext uri="{FF2B5EF4-FFF2-40B4-BE49-F238E27FC236}">
                <a16:creationId xmlns:a16="http://schemas.microsoft.com/office/drawing/2014/main" id="{34F85B27-F0BE-A42C-9B92-2FC2C0EF4772}"/>
              </a:ext>
            </a:extLst>
          </p:cNvPr>
          <p:cNvSpPr/>
          <p:nvPr/>
        </p:nvSpPr>
        <p:spPr>
          <a:xfrm>
            <a:off x="5107864" y="3010597"/>
            <a:ext cx="64347" cy="64347"/>
          </a:xfrm>
          <a:prstGeom prst="ellipse">
            <a:avLst/>
          </a:prstGeom>
          <a:solidFill>
            <a:srgbClr val="157F79"/>
          </a:solidFill>
          <a:ln w="12700">
            <a:solidFill>
              <a:srgbClr val="157F79">
                <a:alpha val="0"/>
              </a:srgbClr>
            </a:solidFill>
            <a:prstDash val="solid"/>
          </a:ln>
        </p:spPr>
      </p:sp>
      <p:sp>
        <p:nvSpPr>
          <p:cNvPr id="18" name="2.5">
            <a:extLst>
              <a:ext uri="{FF2B5EF4-FFF2-40B4-BE49-F238E27FC236}">
                <a16:creationId xmlns:a16="http://schemas.microsoft.com/office/drawing/2014/main" id="{99E0F297-B96C-1A8B-93FE-43058BD46D37}"/>
              </a:ext>
            </a:extLst>
          </p:cNvPr>
          <p:cNvSpPr/>
          <p:nvPr/>
        </p:nvSpPr>
        <p:spPr>
          <a:xfrm>
            <a:off x="4581237" y="3222427"/>
            <a:ext cx="11176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2.5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Editable panel">
            <a:extLst>
              <a:ext uri="{FF2B5EF4-FFF2-40B4-BE49-F238E27FC236}">
                <a16:creationId xmlns:a16="http://schemas.microsoft.com/office/drawing/2014/main" id="{41234CC0-5E92-5B58-768F-5D9206777C62}"/>
              </a:ext>
            </a:extLst>
          </p:cNvPr>
          <p:cNvSpPr/>
          <p:nvPr/>
        </p:nvSpPr>
        <p:spPr>
          <a:xfrm>
            <a:off x="4394970" y="3483037"/>
            <a:ext cx="1490133" cy="254000"/>
          </a:xfrm>
          <a:prstGeom prst="roundRect">
            <a:avLst>
              <a:gd name="adj" fmla="val 20000"/>
            </a:avLst>
          </a:prstGeom>
          <a:solidFill>
            <a:srgbClr val="E6F3F0"/>
          </a:solidFill>
          <a:ln w="12700">
            <a:solidFill>
              <a:srgbClr val="E6F3F0">
                <a:alpha val="0"/>
              </a:srgbClr>
            </a:solidFill>
            <a:prstDash val="solid"/>
          </a:ln>
        </p:spPr>
      </p:sp>
      <p:sp>
        <p:nvSpPr>
          <p:cNvPr id="20" name="1.010₂ × 2¹">
            <a:extLst>
              <a:ext uri="{FF2B5EF4-FFF2-40B4-BE49-F238E27FC236}">
                <a16:creationId xmlns:a16="http://schemas.microsoft.com/office/drawing/2014/main" id="{D1B6339D-CC06-8958-07AF-AFCB2F0EEC43}"/>
              </a:ext>
            </a:extLst>
          </p:cNvPr>
          <p:cNvSpPr/>
          <p:nvPr/>
        </p:nvSpPr>
        <p:spPr>
          <a:xfrm>
            <a:off x="4251037" y="3514250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1.01</a:t>
            </a:r>
            <a:r>
              <a:rPr lang="zh-CN" altLang="en-US" sz="1333" b="1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13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Editable axis / arrow">
            <a:extLst>
              <a:ext uri="{FF2B5EF4-FFF2-40B4-BE49-F238E27FC236}">
                <a16:creationId xmlns:a16="http://schemas.microsoft.com/office/drawing/2014/main" id="{190BF654-6263-34CF-D316-BD53272D7239}"/>
              </a:ext>
            </a:extLst>
          </p:cNvPr>
          <p:cNvSpPr/>
          <p:nvPr/>
        </p:nvSpPr>
        <p:spPr>
          <a:xfrm>
            <a:off x="6968837" y="2907304"/>
            <a:ext cx="0" cy="262467"/>
          </a:xfrm>
          <a:prstGeom prst="line">
            <a:avLst/>
          </a:prstGeom>
          <a:noFill/>
          <a:ln w="13547">
            <a:solidFill>
              <a:srgbClr val="515EC2"/>
            </a:solidFill>
            <a:prstDash val="solid"/>
          </a:ln>
        </p:spPr>
      </p:sp>
      <p:sp>
        <p:nvSpPr>
          <p:cNvPr id="22" name="Editable number-line point">
            <a:extLst>
              <a:ext uri="{FF2B5EF4-FFF2-40B4-BE49-F238E27FC236}">
                <a16:creationId xmlns:a16="http://schemas.microsoft.com/office/drawing/2014/main" id="{83A33D14-626E-58F9-E2F6-1C74D1FD8098}"/>
              </a:ext>
            </a:extLst>
          </p:cNvPr>
          <p:cNvSpPr/>
          <p:nvPr/>
        </p:nvSpPr>
        <p:spPr>
          <a:xfrm>
            <a:off x="6936664" y="3010597"/>
            <a:ext cx="64347" cy="6434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23" name="2.75">
            <a:extLst>
              <a:ext uri="{FF2B5EF4-FFF2-40B4-BE49-F238E27FC236}">
                <a16:creationId xmlns:a16="http://schemas.microsoft.com/office/drawing/2014/main" id="{1DD4C373-F7B3-7CA0-5605-14D478A3BFE9}"/>
              </a:ext>
            </a:extLst>
          </p:cNvPr>
          <p:cNvSpPr/>
          <p:nvPr/>
        </p:nvSpPr>
        <p:spPr>
          <a:xfrm>
            <a:off x="6410037" y="3222427"/>
            <a:ext cx="11176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2.75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1.011₂ × 2¹">
            <a:extLst>
              <a:ext uri="{FF2B5EF4-FFF2-40B4-BE49-F238E27FC236}">
                <a16:creationId xmlns:a16="http://schemas.microsoft.com/office/drawing/2014/main" id="{0F177608-245A-838A-E14E-EF861865E2FA}"/>
              </a:ext>
            </a:extLst>
          </p:cNvPr>
          <p:cNvSpPr/>
          <p:nvPr/>
        </p:nvSpPr>
        <p:spPr>
          <a:xfrm>
            <a:off x="6079837" y="3514250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1.01</a:t>
            </a:r>
            <a:r>
              <a:rPr lang="zh-CN" altLang="en-US" sz="1333" b="1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3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Editable axis / arrow">
            <a:extLst>
              <a:ext uri="{FF2B5EF4-FFF2-40B4-BE49-F238E27FC236}">
                <a16:creationId xmlns:a16="http://schemas.microsoft.com/office/drawing/2014/main" id="{D3478C27-5E88-B59F-C0C7-3AF8BB6585A2}"/>
              </a:ext>
            </a:extLst>
          </p:cNvPr>
          <p:cNvSpPr/>
          <p:nvPr/>
        </p:nvSpPr>
        <p:spPr>
          <a:xfrm>
            <a:off x="8797637" y="2907304"/>
            <a:ext cx="0" cy="262467"/>
          </a:xfrm>
          <a:prstGeom prst="line">
            <a:avLst/>
          </a:prstGeom>
          <a:noFill/>
          <a:ln w="13547">
            <a:solidFill>
              <a:srgbClr val="157F79"/>
            </a:solidFill>
            <a:prstDash val="solid"/>
          </a:ln>
        </p:spPr>
      </p:sp>
      <p:sp>
        <p:nvSpPr>
          <p:cNvPr id="26" name="Editable number-line point">
            <a:extLst>
              <a:ext uri="{FF2B5EF4-FFF2-40B4-BE49-F238E27FC236}">
                <a16:creationId xmlns:a16="http://schemas.microsoft.com/office/drawing/2014/main" id="{79D8E0FD-FE39-5416-C9E4-26ED0CD197CF}"/>
              </a:ext>
            </a:extLst>
          </p:cNvPr>
          <p:cNvSpPr/>
          <p:nvPr/>
        </p:nvSpPr>
        <p:spPr>
          <a:xfrm>
            <a:off x="8765464" y="3010597"/>
            <a:ext cx="64347" cy="64347"/>
          </a:xfrm>
          <a:prstGeom prst="ellipse">
            <a:avLst/>
          </a:prstGeom>
          <a:solidFill>
            <a:srgbClr val="157F79"/>
          </a:solidFill>
          <a:ln w="12700">
            <a:solidFill>
              <a:srgbClr val="157F79">
                <a:alpha val="0"/>
              </a:srgbClr>
            </a:solidFill>
            <a:prstDash val="solid"/>
          </a:ln>
        </p:spPr>
      </p:sp>
      <p:sp>
        <p:nvSpPr>
          <p:cNvPr id="27" name="3">
            <a:extLst>
              <a:ext uri="{FF2B5EF4-FFF2-40B4-BE49-F238E27FC236}">
                <a16:creationId xmlns:a16="http://schemas.microsoft.com/office/drawing/2014/main" id="{EE95B157-ACE4-51AF-E6F8-05E2FDC44E0C}"/>
              </a:ext>
            </a:extLst>
          </p:cNvPr>
          <p:cNvSpPr/>
          <p:nvPr/>
        </p:nvSpPr>
        <p:spPr>
          <a:xfrm>
            <a:off x="8238837" y="3222427"/>
            <a:ext cx="11176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3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8" name="Editable panel">
            <a:extLst>
              <a:ext uri="{FF2B5EF4-FFF2-40B4-BE49-F238E27FC236}">
                <a16:creationId xmlns:a16="http://schemas.microsoft.com/office/drawing/2014/main" id="{0A64562F-EF1D-71ED-6774-94EA424C8183}"/>
              </a:ext>
            </a:extLst>
          </p:cNvPr>
          <p:cNvSpPr/>
          <p:nvPr/>
        </p:nvSpPr>
        <p:spPr>
          <a:xfrm>
            <a:off x="8052570" y="3483037"/>
            <a:ext cx="1490133" cy="254000"/>
          </a:xfrm>
          <a:prstGeom prst="roundRect">
            <a:avLst>
              <a:gd name="adj" fmla="val 20000"/>
            </a:avLst>
          </a:prstGeom>
          <a:solidFill>
            <a:srgbClr val="E6F3F0"/>
          </a:solidFill>
          <a:ln w="12700">
            <a:solidFill>
              <a:srgbClr val="E6F3F0">
                <a:alpha val="0"/>
              </a:srgbClr>
            </a:solidFill>
            <a:prstDash val="solid"/>
          </a:ln>
        </p:spPr>
      </p:sp>
      <p:sp>
        <p:nvSpPr>
          <p:cNvPr id="29" name="1.100₂ × 2¹">
            <a:extLst>
              <a:ext uri="{FF2B5EF4-FFF2-40B4-BE49-F238E27FC236}">
                <a16:creationId xmlns:a16="http://schemas.microsoft.com/office/drawing/2014/main" id="{DE5EB85E-4524-01A1-BD03-34718F0B1EFE}"/>
              </a:ext>
            </a:extLst>
          </p:cNvPr>
          <p:cNvSpPr/>
          <p:nvPr/>
        </p:nvSpPr>
        <p:spPr>
          <a:xfrm>
            <a:off x="7908637" y="3514250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1.10</a:t>
            </a:r>
            <a:r>
              <a:rPr lang="zh-CN" altLang="en-US" sz="1333" b="1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1333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0" name="Editable axis / arrow">
            <a:extLst>
              <a:ext uri="{FF2B5EF4-FFF2-40B4-BE49-F238E27FC236}">
                <a16:creationId xmlns:a16="http://schemas.microsoft.com/office/drawing/2014/main" id="{F87D3172-63EF-ECEB-DBD9-7752D989A9E6}"/>
              </a:ext>
            </a:extLst>
          </p:cNvPr>
          <p:cNvSpPr/>
          <p:nvPr/>
        </p:nvSpPr>
        <p:spPr>
          <a:xfrm>
            <a:off x="10626437" y="2907304"/>
            <a:ext cx="0" cy="262467"/>
          </a:xfrm>
          <a:prstGeom prst="line">
            <a:avLst/>
          </a:prstGeom>
          <a:noFill/>
          <a:ln w="13547">
            <a:solidFill>
              <a:srgbClr val="515EC2"/>
            </a:solidFill>
            <a:prstDash val="solid"/>
          </a:ln>
        </p:spPr>
      </p:sp>
      <p:sp>
        <p:nvSpPr>
          <p:cNvPr id="31" name="Editable number-line point">
            <a:extLst>
              <a:ext uri="{FF2B5EF4-FFF2-40B4-BE49-F238E27FC236}">
                <a16:creationId xmlns:a16="http://schemas.microsoft.com/office/drawing/2014/main" id="{51B491D5-5107-BDB4-ADC8-DCF0300D25D9}"/>
              </a:ext>
            </a:extLst>
          </p:cNvPr>
          <p:cNvSpPr/>
          <p:nvPr/>
        </p:nvSpPr>
        <p:spPr>
          <a:xfrm>
            <a:off x="10594264" y="3010597"/>
            <a:ext cx="64347" cy="64347"/>
          </a:xfrm>
          <a:prstGeom prst="ellipse">
            <a:avLst/>
          </a:prstGeom>
          <a:solidFill>
            <a:srgbClr val="515EC2"/>
          </a:solidFill>
          <a:ln w="12700">
            <a:solidFill>
              <a:srgbClr val="515EC2">
                <a:alpha val="0"/>
              </a:srgbClr>
            </a:solidFill>
            <a:prstDash val="solid"/>
          </a:ln>
        </p:spPr>
      </p:sp>
      <p:sp>
        <p:nvSpPr>
          <p:cNvPr id="32" name="3.25">
            <a:extLst>
              <a:ext uri="{FF2B5EF4-FFF2-40B4-BE49-F238E27FC236}">
                <a16:creationId xmlns:a16="http://schemas.microsoft.com/office/drawing/2014/main" id="{BB1FE2A3-91EC-D2F5-191F-BD8685E87AD7}"/>
              </a:ext>
            </a:extLst>
          </p:cNvPr>
          <p:cNvSpPr/>
          <p:nvPr/>
        </p:nvSpPr>
        <p:spPr>
          <a:xfrm>
            <a:off x="10067637" y="3222427"/>
            <a:ext cx="11176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3.25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3" name="1.101₂ × 2¹">
            <a:extLst>
              <a:ext uri="{FF2B5EF4-FFF2-40B4-BE49-F238E27FC236}">
                <a16:creationId xmlns:a16="http://schemas.microsoft.com/office/drawing/2014/main" id="{0F234F3B-2F97-EA19-BC47-B200A0B0542A}"/>
              </a:ext>
            </a:extLst>
          </p:cNvPr>
          <p:cNvSpPr/>
          <p:nvPr/>
        </p:nvSpPr>
        <p:spPr>
          <a:xfrm>
            <a:off x="9737437" y="3514250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1.10</a:t>
            </a:r>
            <a:r>
              <a:rPr lang="zh-CN" altLang="en-US" sz="1333" b="1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3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" name="Editable axis / arrow">
            <a:extLst>
              <a:ext uri="{FF2B5EF4-FFF2-40B4-BE49-F238E27FC236}">
                <a16:creationId xmlns:a16="http://schemas.microsoft.com/office/drawing/2014/main" id="{971AF1D0-9B5C-3F22-986B-08D011348873}"/>
              </a:ext>
            </a:extLst>
          </p:cNvPr>
          <p:cNvSpPr/>
          <p:nvPr/>
        </p:nvSpPr>
        <p:spPr>
          <a:xfrm>
            <a:off x="2854037" y="2805704"/>
            <a:ext cx="0" cy="194733"/>
          </a:xfrm>
          <a:prstGeom prst="line">
            <a:avLst/>
          </a:prstGeom>
          <a:noFill/>
          <a:ln w="10160">
            <a:solidFill>
              <a:srgbClr val="B85E4D">
                <a:alpha val="55000"/>
              </a:srgbClr>
            </a:solidFill>
            <a:prstDash val="dash"/>
          </a:ln>
        </p:spPr>
      </p:sp>
      <p:sp>
        <p:nvSpPr>
          <p:cNvPr id="35" name="Editable axis / arrow">
            <a:extLst>
              <a:ext uri="{FF2B5EF4-FFF2-40B4-BE49-F238E27FC236}">
                <a16:creationId xmlns:a16="http://schemas.microsoft.com/office/drawing/2014/main" id="{2BE11CAD-D65A-5731-E249-A586A8DF3D29}"/>
              </a:ext>
            </a:extLst>
          </p:cNvPr>
          <p:cNvSpPr/>
          <p:nvPr/>
        </p:nvSpPr>
        <p:spPr>
          <a:xfrm>
            <a:off x="2921770" y="2746437"/>
            <a:ext cx="389467" cy="0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36" name="Editable axis / arrow">
            <a:extLst>
              <a:ext uri="{FF2B5EF4-FFF2-40B4-BE49-F238E27FC236}">
                <a16:creationId xmlns:a16="http://schemas.microsoft.com/office/drawing/2014/main" id="{E8F21856-8ABA-06BF-8031-67EFA2904FDE}"/>
              </a:ext>
            </a:extLst>
          </p:cNvPr>
          <p:cNvSpPr/>
          <p:nvPr/>
        </p:nvSpPr>
        <p:spPr>
          <a:xfrm flipH="1">
            <a:off x="3244365" y="2746437"/>
            <a:ext cx="66872" cy="36532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37" name="Editable axis / arrow">
            <a:extLst>
              <a:ext uri="{FF2B5EF4-FFF2-40B4-BE49-F238E27FC236}">
                <a16:creationId xmlns:a16="http://schemas.microsoft.com/office/drawing/2014/main" id="{8B50763E-2F1C-CE8F-49C7-5A93D5BA6C62}"/>
              </a:ext>
            </a:extLst>
          </p:cNvPr>
          <p:cNvSpPr/>
          <p:nvPr/>
        </p:nvSpPr>
        <p:spPr>
          <a:xfrm flipH="1" flipV="1">
            <a:off x="3244365" y="2709905"/>
            <a:ext cx="66872" cy="36532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38" name="Editable axis / arrow">
            <a:extLst>
              <a:ext uri="{FF2B5EF4-FFF2-40B4-BE49-F238E27FC236}">
                <a16:creationId xmlns:a16="http://schemas.microsoft.com/office/drawing/2014/main" id="{CA880494-A8C0-5C51-CB2F-7C2953D12809}"/>
              </a:ext>
            </a:extLst>
          </p:cNvPr>
          <p:cNvSpPr/>
          <p:nvPr/>
        </p:nvSpPr>
        <p:spPr>
          <a:xfrm>
            <a:off x="3311237" y="2746437"/>
            <a:ext cx="0" cy="220133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39" name="Editable axis / arrow">
            <a:extLst>
              <a:ext uri="{FF2B5EF4-FFF2-40B4-BE49-F238E27FC236}">
                <a16:creationId xmlns:a16="http://schemas.microsoft.com/office/drawing/2014/main" id="{5B23C28B-7842-1507-575E-1207271F8040}"/>
              </a:ext>
            </a:extLst>
          </p:cNvPr>
          <p:cNvSpPr/>
          <p:nvPr/>
        </p:nvSpPr>
        <p:spPr>
          <a:xfrm>
            <a:off x="3311237" y="2907304"/>
            <a:ext cx="0" cy="93133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40" name="Editable axis / arrow">
            <a:extLst>
              <a:ext uri="{FF2B5EF4-FFF2-40B4-BE49-F238E27FC236}">
                <a16:creationId xmlns:a16="http://schemas.microsoft.com/office/drawing/2014/main" id="{1C64AB6B-3389-0A2E-4179-C4E870455390}"/>
              </a:ext>
            </a:extLst>
          </p:cNvPr>
          <p:cNvSpPr/>
          <p:nvPr/>
        </p:nvSpPr>
        <p:spPr>
          <a:xfrm flipH="1" flipV="1">
            <a:off x="3274705" y="2933565"/>
            <a:ext cx="36532" cy="66872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41" name="Editable axis / arrow">
            <a:extLst>
              <a:ext uri="{FF2B5EF4-FFF2-40B4-BE49-F238E27FC236}">
                <a16:creationId xmlns:a16="http://schemas.microsoft.com/office/drawing/2014/main" id="{AB0EC4F7-368B-FD9B-D9CF-11AA16085879}"/>
              </a:ext>
            </a:extLst>
          </p:cNvPr>
          <p:cNvSpPr/>
          <p:nvPr/>
        </p:nvSpPr>
        <p:spPr>
          <a:xfrm flipV="1">
            <a:off x="3311237" y="2933565"/>
            <a:ext cx="36532" cy="66872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42" name="Editable number-line point">
            <a:extLst>
              <a:ext uri="{FF2B5EF4-FFF2-40B4-BE49-F238E27FC236}">
                <a16:creationId xmlns:a16="http://schemas.microsoft.com/office/drawing/2014/main" id="{3DABB195-F6E1-E679-CD77-9F2D75C74169}"/>
              </a:ext>
            </a:extLst>
          </p:cNvPr>
          <p:cNvSpPr/>
          <p:nvPr/>
        </p:nvSpPr>
        <p:spPr>
          <a:xfrm>
            <a:off x="3251970" y="2983504"/>
            <a:ext cx="118533" cy="118533"/>
          </a:xfrm>
          <a:prstGeom prst="ellipse">
            <a:avLst/>
          </a:prstGeom>
          <a:solidFill>
            <a:srgbClr val="FFFFFF"/>
          </a:solidFill>
          <a:ln w="16933">
            <a:solidFill>
              <a:srgbClr val="157F79"/>
            </a:solidFill>
            <a:prstDash val="solid"/>
          </a:ln>
        </p:spPr>
      </p:sp>
      <p:sp>
        <p:nvSpPr>
          <p:cNvPr id="43" name="Editable number-line point">
            <a:extLst>
              <a:ext uri="{FF2B5EF4-FFF2-40B4-BE49-F238E27FC236}">
                <a16:creationId xmlns:a16="http://schemas.microsoft.com/office/drawing/2014/main" id="{106940B4-D7AD-4634-CE26-9921BE961AE5}"/>
              </a:ext>
            </a:extLst>
          </p:cNvPr>
          <p:cNvSpPr/>
          <p:nvPr/>
        </p:nvSpPr>
        <p:spPr>
          <a:xfrm>
            <a:off x="2804930" y="2697330"/>
            <a:ext cx="98213" cy="98213"/>
          </a:xfrm>
          <a:prstGeom prst="ellipse">
            <a:avLst/>
          </a:prstGeom>
          <a:solidFill>
            <a:srgbClr val="B85E4D"/>
          </a:solidFill>
          <a:ln w="12700">
            <a:solidFill>
              <a:srgbClr val="B85E4D">
                <a:alpha val="0"/>
              </a:srgbClr>
            </a:solidFill>
            <a:prstDash val="solid"/>
          </a:ln>
        </p:spPr>
      </p:sp>
      <p:sp>
        <p:nvSpPr>
          <p:cNvPr id="44" name="非中点 2.1875">
            <a:extLst>
              <a:ext uri="{FF2B5EF4-FFF2-40B4-BE49-F238E27FC236}">
                <a16:creationId xmlns:a16="http://schemas.microsoft.com/office/drawing/2014/main" id="{33E18458-E639-022E-FC8A-15051BF3A706}"/>
              </a:ext>
            </a:extLst>
          </p:cNvPr>
          <p:cNvSpPr/>
          <p:nvPr/>
        </p:nvSpPr>
        <p:spPr>
          <a:xfrm>
            <a:off x="1727970" y="2415791"/>
            <a:ext cx="2252133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67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非中点 2.1875</a:t>
            </a:r>
            <a:endParaRPr lang="zh-CN" sz="1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5" name="Editable axis / arrow">
            <a:extLst>
              <a:ext uri="{FF2B5EF4-FFF2-40B4-BE49-F238E27FC236}">
                <a16:creationId xmlns:a16="http://schemas.microsoft.com/office/drawing/2014/main" id="{AEC8D967-DFA3-02DA-0269-7A15FD43DF70}"/>
              </a:ext>
            </a:extLst>
          </p:cNvPr>
          <p:cNvSpPr/>
          <p:nvPr/>
        </p:nvSpPr>
        <p:spPr>
          <a:xfrm>
            <a:off x="6054437" y="2805704"/>
            <a:ext cx="0" cy="194733"/>
          </a:xfrm>
          <a:prstGeom prst="line">
            <a:avLst/>
          </a:prstGeom>
          <a:noFill/>
          <a:ln w="10160">
            <a:solidFill>
              <a:srgbClr val="B85E4D">
                <a:alpha val="55000"/>
              </a:srgbClr>
            </a:solidFill>
            <a:prstDash val="dash"/>
          </a:ln>
        </p:spPr>
      </p:sp>
      <p:sp>
        <p:nvSpPr>
          <p:cNvPr id="46" name="Editable axis / arrow">
            <a:extLst>
              <a:ext uri="{FF2B5EF4-FFF2-40B4-BE49-F238E27FC236}">
                <a16:creationId xmlns:a16="http://schemas.microsoft.com/office/drawing/2014/main" id="{D33C37D0-0E9E-C55C-5521-8A48E4ED5170}"/>
              </a:ext>
            </a:extLst>
          </p:cNvPr>
          <p:cNvSpPr/>
          <p:nvPr/>
        </p:nvSpPr>
        <p:spPr>
          <a:xfrm flipH="1">
            <a:off x="5140037" y="2746437"/>
            <a:ext cx="846667" cy="0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47" name="Editable axis / arrow">
            <a:extLst>
              <a:ext uri="{FF2B5EF4-FFF2-40B4-BE49-F238E27FC236}">
                <a16:creationId xmlns:a16="http://schemas.microsoft.com/office/drawing/2014/main" id="{0CBE7EF9-0697-9DDE-2600-02A5DFB581CE}"/>
              </a:ext>
            </a:extLst>
          </p:cNvPr>
          <p:cNvSpPr/>
          <p:nvPr/>
        </p:nvSpPr>
        <p:spPr>
          <a:xfrm flipV="1">
            <a:off x="5140037" y="2709905"/>
            <a:ext cx="66872" cy="36532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48" name="Editable axis / arrow">
            <a:extLst>
              <a:ext uri="{FF2B5EF4-FFF2-40B4-BE49-F238E27FC236}">
                <a16:creationId xmlns:a16="http://schemas.microsoft.com/office/drawing/2014/main" id="{C283D97C-71FD-0525-5385-76A265FB3094}"/>
              </a:ext>
            </a:extLst>
          </p:cNvPr>
          <p:cNvSpPr/>
          <p:nvPr/>
        </p:nvSpPr>
        <p:spPr>
          <a:xfrm>
            <a:off x="5140037" y="2746437"/>
            <a:ext cx="66872" cy="36532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49" name="Editable axis / arrow">
            <a:extLst>
              <a:ext uri="{FF2B5EF4-FFF2-40B4-BE49-F238E27FC236}">
                <a16:creationId xmlns:a16="http://schemas.microsoft.com/office/drawing/2014/main" id="{84A81B35-486D-CEFF-C3B5-10B9C8A99842}"/>
              </a:ext>
            </a:extLst>
          </p:cNvPr>
          <p:cNvSpPr/>
          <p:nvPr/>
        </p:nvSpPr>
        <p:spPr>
          <a:xfrm>
            <a:off x="5140037" y="2746437"/>
            <a:ext cx="0" cy="220133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50" name="Editable axis / arrow">
            <a:extLst>
              <a:ext uri="{FF2B5EF4-FFF2-40B4-BE49-F238E27FC236}">
                <a16:creationId xmlns:a16="http://schemas.microsoft.com/office/drawing/2014/main" id="{84069746-C9CB-79F2-7D1D-75A5024F95C2}"/>
              </a:ext>
            </a:extLst>
          </p:cNvPr>
          <p:cNvSpPr/>
          <p:nvPr/>
        </p:nvSpPr>
        <p:spPr>
          <a:xfrm>
            <a:off x="5140037" y="2907304"/>
            <a:ext cx="0" cy="93133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51" name="Editable axis / arrow">
            <a:extLst>
              <a:ext uri="{FF2B5EF4-FFF2-40B4-BE49-F238E27FC236}">
                <a16:creationId xmlns:a16="http://schemas.microsoft.com/office/drawing/2014/main" id="{D49A1460-BE43-D900-1E53-34694C4082C0}"/>
              </a:ext>
            </a:extLst>
          </p:cNvPr>
          <p:cNvSpPr/>
          <p:nvPr/>
        </p:nvSpPr>
        <p:spPr>
          <a:xfrm flipH="1" flipV="1">
            <a:off x="5103505" y="2933565"/>
            <a:ext cx="36532" cy="66872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52" name="Editable axis / arrow">
            <a:extLst>
              <a:ext uri="{FF2B5EF4-FFF2-40B4-BE49-F238E27FC236}">
                <a16:creationId xmlns:a16="http://schemas.microsoft.com/office/drawing/2014/main" id="{E2AF13B7-DD4C-5769-CBBD-E81EC17EECA1}"/>
              </a:ext>
            </a:extLst>
          </p:cNvPr>
          <p:cNvSpPr/>
          <p:nvPr/>
        </p:nvSpPr>
        <p:spPr>
          <a:xfrm flipV="1">
            <a:off x="5140037" y="2933565"/>
            <a:ext cx="36532" cy="66872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53" name="Editable number-line point">
            <a:extLst>
              <a:ext uri="{FF2B5EF4-FFF2-40B4-BE49-F238E27FC236}">
                <a16:creationId xmlns:a16="http://schemas.microsoft.com/office/drawing/2014/main" id="{A455D51F-8870-26FB-A91F-785A149D1456}"/>
              </a:ext>
            </a:extLst>
          </p:cNvPr>
          <p:cNvSpPr/>
          <p:nvPr/>
        </p:nvSpPr>
        <p:spPr>
          <a:xfrm>
            <a:off x="5080770" y="2983504"/>
            <a:ext cx="118533" cy="118533"/>
          </a:xfrm>
          <a:prstGeom prst="ellipse">
            <a:avLst/>
          </a:prstGeom>
          <a:solidFill>
            <a:srgbClr val="FFFFFF"/>
          </a:solidFill>
          <a:ln w="16933">
            <a:solidFill>
              <a:srgbClr val="157F79"/>
            </a:solidFill>
            <a:prstDash val="solid"/>
          </a:ln>
        </p:spPr>
      </p:sp>
      <p:sp>
        <p:nvSpPr>
          <p:cNvPr id="54" name="Editable number-line point">
            <a:extLst>
              <a:ext uri="{FF2B5EF4-FFF2-40B4-BE49-F238E27FC236}">
                <a16:creationId xmlns:a16="http://schemas.microsoft.com/office/drawing/2014/main" id="{C26551B0-DB67-C3DA-D7C4-9934DCE93AD9}"/>
              </a:ext>
            </a:extLst>
          </p:cNvPr>
          <p:cNvSpPr/>
          <p:nvPr/>
        </p:nvSpPr>
        <p:spPr>
          <a:xfrm>
            <a:off x="6005330" y="2697330"/>
            <a:ext cx="98213" cy="98213"/>
          </a:xfrm>
          <a:prstGeom prst="ellipse">
            <a:avLst/>
          </a:prstGeom>
          <a:solidFill>
            <a:srgbClr val="B85E4D"/>
          </a:solidFill>
          <a:ln w="12700">
            <a:solidFill>
              <a:srgbClr val="B85E4D">
                <a:alpha val="0"/>
              </a:srgbClr>
            </a:solidFill>
            <a:prstDash val="solid"/>
          </a:ln>
        </p:spPr>
      </p:sp>
      <p:sp>
        <p:nvSpPr>
          <p:cNvPr id="55" name="中点 2.625">
            <a:extLst>
              <a:ext uri="{FF2B5EF4-FFF2-40B4-BE49-F238E27FC236}">
                <a16:creationId xmlns:a16="http://schemas.microsoft.com/office/drawing/2014/main" id="{C4671AE7-44D8-F513-FE26-54AFACB12718}"/>
              </a:ext>
            </a:extLst>
          </p:cNvPr>
          <p:cNvSpPr/>
          <p:nvPr/>
        </p:nvSpPr>
        <p:spPr>
          <a:xfrm>
            <a:off x="4928370" y="2415791"/>
            <a:ext cx="2252133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67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中点 2.625</a:t>
            </a:r>
            <a:endParaRPr lang="zh-CN" sz="1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" name="Editable axis / arrow">
            <a:extLst>
              <a:ext uri="{FF2B5EF4-FFF2-40B4-BE49-F238E27FC236}">
                <a16:creationId xmlns:a16="http://schemas.microsoft.com/office/drawing/2014/main" id="{B9E79135-C004-96E2-63C1-DE2443687373}"/>
              </a:ext>
            </a:extLst>
          </p:cNvPr>
          <p:cNvSpPr/>
          <p:nvPr/>
        </p:nvSpPr>
        <p:spPr>
          <a:xfrm>
            <a:off x="7883237" y="2805704"/>
            <a:ext cx="0" cy="194733"/>
          </a:xfrm>
          <a:prstGeom prst="line">
            <a:avLst/>
          </a:prstGeom>
          <a:noFill/>
          <a:ln w="10160">
            <a:solidFill>
              <a:srgbClr val="B85E4D">
                <a:alpha val="55000"/>
              </a:srgbClr>
            </a:solidFill>
            <a:prstDash val="dash"/>
          </a:ln>
        </p:spPr>
      </p:sp>
      <p:sp>
        <p:nvSpPr>
          <p:cNvPr id="57" name="Editable axis / arrow">
            <a:extLst>
              <a:ext uri="{FF2B5EF4-FFF2-40B4-BE49-F238E27FC236}">
                <a16:creationId xmlns:a16="http://schemas.microsoft.com/office/drawing/2014/main" id="{DB0A0B4C-5937-DB45-0EE1-F7B64840422B}"/>
              </a:ext>
            </a:extLst>
          </p:cNvPr>
          <p:cNvSpPr/>
          <p:nvPr/>
        </p:nvSpPr>
        <p:spPr>
          <a:xfrm>
            <a:off x="7950970" y="2746437"/>
            <a:ext cx="846667" cy="0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58" name="Editable axis / arrow">
            <a:extLst>
              <a:ext uri="{FF2B5EF4-FFF2-40B4-BE49-F238E27FC236}">
                <a16:creationId xmlns:a16="http://schemas.microsoft.com/office/drawing/2014/main" id="{38CDEE15-FA8B-6779-C75E-F822A572E542}"/>
              </a:ext>
            </a:extLst>
          </p:cNvPr>
          <p:cNvSpPr/>
          <p:nvPr/>
        </p:nvSpPr>
        <p:spPr>
          <a:xfrm flipH="1">
            <a:off x="8730765" y="2746437"/>
            <a:ext cx="66872" cy="36532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59" name="Editable axis / arrow">
            <a:extLst>
              <a:ext uri="{FF2B5EF4-FFF2-40B4-BE49-F238E27FC236}">
                <a16:creationId xmlns:a16="http://schemas.microsoft.com/office/drawing/2014/main" id="{3F4D6DA4-6A03-1CDC-EEBF-08754456252D}"/>
              </a:ext>
            </a:extLst>
          </p:cNvPr>
          <p:cNvSpPr/>
          <p:nvPr/>
        </p:nvSpPr>
        <p:spPr>
          <a:xfrm flipH="1" flipV="1">
            <a:off x="8730765" y="2709905"/>
            <a:ext cx="66872" cy="36532"/>
          </a:xfrm>
          <a:prstGeom prst="line">
            <a:avLst/>
          </a:prstGeom>
          <a:noFill/>
          <a:ln w="16933">
            <a:solidFill>
              <a:srgbClr val="B85E4D"/>
            </a:solidFill>
            <a:prstDash val="solid"/>
          </a:ln>
        </p:spPr>
      </p:sp>
      <p:sp>
        <p:nvSpPr>
          <p:cNvPr id="60" name="Editable axis / arrow">
            <a:extLst>
              <a:ext uri="{FF2B5EF4-FFF2-40B4-BE49-F238E27FC236}">
                <a16:creationId xmlns:a16="http://schemas.microsoft.com/office/drawing/2014/main" id="{A1B27C4F-D5D9-6956-3D4F-6327409EB348}"/>
              </a:ext>
            </a:extLst>
          </p:cNvPr>
          <p:cNvSpPr/>
          <p:nvPr/>
        </p:nvSpPr>
        <p:spPr>
          <a:xfrm>
            <a:off x="8797637" y="2746437"/>
            <a:ext cx="0" cy="220133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61" name="Editable axis / arrow">
            <a:extLst>
              <a:ext uri="{FF2B5EF4-FFF2-40B4-BE49-F238E27FC236}">
                <a16:creationId xmlns:a16="http://schemas.microsoft.com/office/drawing/2014/main" id="{61DA3A08-65A7-95EF-C7FD-E7B9B0D0A3C8}"/>
              </a:ext>
            </a:extLst>
          </p:cNvPr>
          <p:cNvSpPr/>
          <p:nvPr/>
        </p:nvSpPr>
        <p:spPr>
          <a:xfrm>
            <a:off x="8797637" y="2907304"/>
            <a:ext cx="0" cy="93133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62" name="Editable axis / arrow">
            <a:extLst>
              <a:ext uri="{FF2B5EF4-FFF2-40B4-BE49-F238E27FC236}">
                <a16:creationId xmlns:a16="http://schemas.microsoft.com/office/drawing/2014/main" id="{62191D93-320E-F78D-6B87-536CD6F36AA0}"/>
              </a:ext>
            </a:extLst>
          </p:cNvPr>
          <p:cNvSpPr/>
          <p:nvPr/>
        </p:nvSpPr>
        <p:spPr>
          <a:xfrm flipH="1" flipV="1">
            <a:off x="8761105" y="2933565"/>
            <a:ext cx="36532" cy="66872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63" name="Editable axis / arrow">
            <a:extLst>
              <a:ext uri="{FF2B5EF4-FFF2-40B4-BE49-F238E27FC236}">
                <a16:creationId xmlns:a16="http://schemas.microsoft.com/office/drawing/2014/main" id="{426FE257-D3A1-B593-2339-6ABB1CC7EB9F}"/>
              </a:ext>
            </a:extLst>
          </p:cNvPr>
          <p:cNvSpPr/>
          <p:nvPr/>
        </p:nvSpPr>
        <p:spPr>
          <a:xfrm flipV="1">
            <a:off x="8797637" y="2933565"/>
            <a:ext cx="36532" cy="66872"/>
          </a:xfrm>
          <a:prstGeom prst="line">
            <a:avLst/>
          </a:prstGeom>
          <a:noFill/>
          <a:ln w="15240">
            <a:solidFill>
              <a:srgbClr val="B85E4D"/>
            </a:solidFill>
            <a:prstDash val="solid"/>
          </a:ln>
        </p:spPr>
      </p:sp>
      <p:sp>
        <p:nvSpPr>
          <p:cNvPr id="64" name="Editable number-line point">
            <a:extLst>
              <a:ext uri="{FF2B5EF4-FFF2-40B4-BE49-F238E27FC236}">
                <a16:creationId xmlns:a16="http://schemas.microsoft.com/office/drawing/2014/main" id="{FDF80BDE-80A3-B913-1BC2-C4A9BBCB00EA}"/>
              </a:ext>
            </a:extLst>
          </p:cNvPr>
          <p:cNvSpPr/>
          <p:nvPr/>
        </p:nvSpPr>
        <p:spPr>
          <a:xfrm>
            <a:off x="8738370" y="2983504"/>
            <a:ext cx="118533" cy="118533"/>
          </a:xfrm>
          <a:prstGeom prst="ellipse">
            <a:avLst/>
          </a:prstGeom>
          <a:solidFill>
            <a:srgbClr val="FFFFFF"/>
          </a:solidFill>
          <a:ln w="16933">
            <a:solidFill>
              <a:srgbClr val="157F79"/>
            </a:solidFill>
            <a:prstDash val="solid"/>
          </a:ln>
        </p:spPr>
      </p:sp>
      <p:sp>
        <p:nvSpPr>
          <p:cNvPr id="65" name="Editable number-line point">
            <a:extLst>
              <a:ext uri="{FF2B5EF4-FFF2-40B4-BE49-F238E27FC236}">
                <a16:creationId xmlns:a16="http://schemas.microsoft.com/office/drawing/2014/main" id="{5AB6F4D4-86A9-B42E-A8AE-42D5377D5781}"/>
              </a:ext>
            </a:extLst>
          </p:cNvPr>
          <p:cNvSpPr/>
          <p:nvPr/>
        </p:nvSpPr>
        <p:spPr>
          <a:xfrm>
            <a:off x="7834130" y="2697330"/>
            <a:ext cx="98213" cy="98213"/>
          </a:xfrm>
          <a:prstGeom prst="ellipse">
            <a:avLst/>
          </a:prstGeom>
          <a:solidFill>
            <a:srgbClr val="B85E4D"/>
          </a:solidFill>
          <a:ln w="12700">
            <a:solidFill>
              <a:srgbClr val="B85E4D">
                <a:alpha val="0"/>
              </a:srgbClr>
            </a:solidFill>
            <a:prstDash val="solid"/>
          </a:ln>
        </p:spPr>
      </p:sp>
      <p:sp>
        <p:nvSpPr>
          <p:cNvPr id="66" name="中点 2.875">
            <a:extLst>
              <a:ext uri="{FF2B5EF4-FFF2-40B4-BE49-F238E27FC236}">
                <a16:creationId xmlns:a16="http://schemas.microsoft.com/office/drawing/2014/main" id="{FC075B31-35C9-481A-ADC3-5A190CC7AF79}"/>
              </a:ext>
            </a:extLst>
          </p:cNvPr>
          <p:cNvSpPr/>
          <p:nvPr/>
        </p:nvSpPr>
        <p:spPr>
          <a:xfrm>
            <a:off x="6757170" y="2415791"/>
            <a:ext cx="2252133" cy="2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67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中点 2.875</a:t>
            </a:r>
            <a:endParaRPr lang="zh-CN" sz="14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7" name="Δ = 1/4  ·  “偶数”指最低保留位为 0，不是结果必须为偶整数。">
            <a:extLst>
              <a:ext uri="{FF2B5EF4-FFF2-40B4-BE49-F238E27FC236}">
                <a16:creationId xmlns:a16="http://schemas.microsoft.com/office/drawing/2014/main" id="{A642A0EA-A80A-8AF2-0144-8C6506CFD091}"/>
              </a:ext>
            </a:extLst>
          </p:cNvPr>
          <p:cNvSpPr/>
          <p:nvPr/>
        </p:nvSpPr>
        <p:spPr>
          <a:xfrm>
            <a:off x="696730" y="3883079"/>
            <a:ext cx="106172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267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“偶数”指最低保留位为 0，不是结果必须为偶整数</a:t>
            </a:r>
            <a:endParaRPr lang="zh-CN" sz="1267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8" name="Editable panel">
            <a:extLst>
              <a:ext uri="{FF2B5EF4-FFF2-40B4-BE49-F238E27FC236}">
                <a16:creationId xmlns:a16="http://schemas.microsoft.com/office/drawing/2014/main" id="{B90EB4DA-C3B3-8309-3E51-98E41C753D25}"/>
              </a:ext>
            </a:extLst>
          </p:cNvPr>
          <p:cNvSpPr/>
          <p:nvPr/>
        </p:nvSpPr>
        <p:spPr>
          <a:xfrm>
            <a:off x="474903" y="4331878"/>
            <a:ext cx="6790267" cy="20828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467">
            <a:solidFill>
              <a:srgbClr val="DCE4ED"/>
            </a:solidFill>
            <a:prstDash val="solid"/>
          </a:ln>
        </p:spPr>
      </p:sp>
      <p:sp>
        <p:nvSpPr>
          <p:cNvPr id="69" name="小数可能不精确：只存储，不运算">
            <a:extLst>
              <a:ext uri="{FF2B5EF4-FFF2-40B4-BE49-F238E27FC236}">
                <a16:creationId xmlns:a16="http://schemas.microsoft.com/office/drawing/2014/main" id="{2AF10B2D-3F2E-A004-4696-00959F591312}"/>
              </a:ext>
            </a:extLst>
          </p:cNvPr>
          <p:cNvSpPr/>
          <p:nvPr/>
        </p:nvSpPr>
        <p:spPr>
          <a:xfrm>
            <a:off x="695037" y="4469202"/>
            <a:ext cx="625686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小数误差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0" name="0.5₁₀ = 0.1₂">
            <a:extLst>
              <a:ext uri="{FF2B5EF4-FFF2-40B4-BE49-F238E27FC236}">
                <a16:creationId xmlns:a16="http://schemas.microsoft.com/office/drawing/2014/main" id="{93B92D71-A3F3-E440-F6FD-D22732C6DA4A}"/>
              </a:ext>
            </a:extLst>
          </p:cNvPr>
          <p:cNvSpPr/>
          <p:nvPr/>
        </p:nvSpPr>
        <p:spPr>
          <a:xfrm>
            <a:off x="728903" y="4832165"/>
            <a:ext cx="3810000" cy="23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533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0.5₁₀ = 0.1₂</a:t>
            </a:r>
            <a:endParaRPr lang="zh-CN" sz="15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1" name="有限展开，可精确表示">
            <a:extLst>
              <a:ext uri="{FF2B5EF4-FFF2-40B4-BE49-F238E27FC236}">
                <a16:creationId xmlns:a16="http://schemas.microsoft.com/office/drawing/2014/main" id="{80CD7041-06A4-54E3-7E15-F87A794AC8A4}"/>
              </a:ext>
            </a:extLst>
          </p:cNvPr>
          <p:cNvSpPr/>
          <p:nvPr/>
        </p:nvSpPr>
        <p:spPr>
          <a:xfrm>
            <a:off x="4615103" y="4860321"/>
            <a:ext cx="235373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</a:pPr>
            <a:r>
              <a:rPr lang="zh-CN" altLang="en-US" sz="1200" dirty="0">
                <a:solidFill>
                  <a:srgbClr val="157F79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有限展开，可精确表示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2" name="Editable panel">
            <a:extLst>
              <a:ext uri="{FF2B5EF4-FFF2-40B4-BE49-F238E27FC236}">
                <a16:creationId xmlns:a16="http://schemas.microsoft.com/office/drawing/2014/main" id="{36F373BD-9B30-DAC3-B3C8-B7946E0DA47F}"/>
              </a:ext>
            </a:extLst>
          </p:cNvPr>
          <p:cNvSpPr/>
          <p:nvPr/>
        </p:nvSpPr>
        <p:spPr>
          <a:xfrm>
            <a:off x="627303" y="5136212"/>
            <a:ext cx="6485467" cy="296333"/>
          </a:xfrm>
          <a:prstGeom prst="roundRect">
            <a:avLst>
              <a:gd name="adj" fmla="val 22857"/>
            </a:avLst>
          </a:prstGeom>
          <a:solidFill>
            <a:srgbClr val="F9EBE6"/>
          </a:solidFill>
          <a:ln w="12700">
            <a:solidFill>
              <a:srgbClr val="F9EBE6">
                <a:alpha val="0"/>
              </a:srgbClr>
            </a:solidFill>
            <a:prstDash val="solid"/>
          </a:ln>
        </p:spPr>
      </p:sp>
      <p:sp>
        <p:nvSpPr>
          <p:cNvPr id="73" name="0.1₁₀ = 0.000110011…₂">
            <a:extLst>
              <a:ext uri="{FF2B5EF4-FFF2-40B4-BE49-F238E27FC236}">
                <a16:creationId xmlns:a16="http://schemas.microsoft.com/office/drawing/2014/main" id="{183D972C-5FBE-4AB1-6038-5471BC990117}"/>
              </a:ext>
            </a:extLst>
          </p:cNvPr>
          <p:cNvSpPr/>
          <p:nvPr/>
        </p:nvSpPr>
        <p:spPr>
          <a:xfrm>
            <a:off x="728903" y="5170831"/>
            <a:ext cx="3810000" cy="23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533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0.1₁₀ = 0.000110011…₂</a:t>
            </a:r>
            <a:endParaRPr lang="zh-CN" sz="15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4" name="无限循环，必须舍入">
            <a:extLst>
              <a:ext uri="{FF2B5EF4-FFF2-40B4-BE49-F238E27FC236}">
                <a16:creationId xmlns:a16="http://schemas.microsoft.com/office/drawing/2014/main" id="{3C44433A-EEF5-8FE9-0EF6-3FCF20CC7F35}"/>
              </a:ext>
            </a:extLst>
          </p:cNvPr>
          <p:cNvSpPr/>
          <p:nvPr/>
        </p:nvSpPr>
        <p:spPr>
          <a:xfrm>
            <a:off x="4615103" y="5198988"/>
            <a:ext cx="235373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</a:pPr>
            <a:r>
              <a:rPr lang="zh-CN" altLang="en-US" sz="1200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无限循环，必须舍入</a:t>
            </a:r>
            <a:endParaRPr lang="zh-CN" sz="12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5" name="binary32 实际保存的 0.1（精确十进制值）">
            <a:extLst>
              <a:ext uri="{FF2B5EF4-FFF2-40B4-BE49-F238E27FC236}">
                <a16:creationId xmlns:a16="http://schemas.microsoft.com/office/drawing/2014/main" id="{773A86AB-3FB1-0FDE-B410-4F0967F8446A}"/>
              </a:ext>
            </a:extLst>
          </p:cNvPr>
          <p:cNvSpPr/>
          <p:nvPr/>
        </p:nvSpPr>
        <p:spPr>
          <a:xfrm>
            <a:off x="728903" y="5528084"/>
            <a:ext cx="6180667" cy="17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altLang="zh-CN" sz="1133" dirty="0">
                <a:solidFill>
                  <a:srgbClr val="68798D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float</a:t>
            </a:r>
            <a:r>
              <a:rPr lang="zh-CN" altLang="en-US" sz="1133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实际保存的 0.1</a:t>
            </a:r>
            <a:endParaRPr lang="zh-CN" sz="11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6" name="0.100000001490116119384765625">
            <a:extLst>
              <a:ext uri="{FF2B5EF4-FFF2-40B4-BE49-F238E27FC236}">
                <a16:creationId xmlns:a16="http://schemas.microsoft.com/office/drawing/2014/main" id="{40E107D9-F002-B653-30E6-FD11BFC8385F}"/>
              </a:ext>
            </a:extLst>
          </p:cNvPr>
          <p:cNvSpPr/>
          <p:nvPr/>
        </p:nvSpPr>
        <p:spPr>
          <a:xfrm>
            <a:off x="728903" y="5759081"/>
            <a:ext cx="62992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800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0.100000001490116119384765625</a:t>
            </a:r>
            <a:endParaRPr lang="zh-CN" sz="1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7" name="换成 double 会更接近，但仍不是精确的 0.1。">
            <a:extLst>
              <a:ext uri="{FF2B5EF4-FFF2-40B4-BE49-F238E27FC236}">
                <a16:creationId xmlns:a16="http://schemas.microsoft.com/office/drawing/2014/main" id="{F0E2E551-12CA-EB59-455C-E7A1C41E86EB}"/>
              </a:ext>
            </a:extLst>
          </p:cNvPr>
          <p:cNvSpPr/>
          <p:nvPr/>
        </p:nvSpPr>
        <p:spPr>
          <a:xfrm>
            <a:off x="728903" y="6122958"/>
            <a:ext cx="62992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2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换成 </a:t>
            </a:r>
            <a:r>
              <a:rPr lang="zh-CN" altLang="en-US" sz="1267" dirty="0">
                <a:solidFill>
                  <a:srgbClr val="68798D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double</a:t>
            </a:r>
            <a:r>
              <a:rPr lang="zh-CN" altLang="en-US" sz="12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会更接近，但仍不是精确的 0.1。</a:t>
            </a:r>
            <a:endParaRPr lang="zh-CN" sz="12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8" name="Editable panel">
            <a:extLst>
              <a:ext uri="{FF2B5EF4-FFF2-40B4-BE49-F238E27FC236}">
                <a16:creationId xmlns:a16="http://schemas.microsoft.com/office/drawing/2014/main" id="{8D18B9C0-D52B-CC60-BA9A-7D635EEBAFF4}"/>
              </a:ext>
            </a:extLst>
          </p:cNvPr>
          <p:cNvSpPr/>
          <p:nvPr/>
        </p:nvSpPr>
        <p:spPr>
          <a:xfrm>
            <a:off x="7434503" y="4331878"/>
            <a:ext cx="4284133" cy="20828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467">
            <a:solidFill>
              <a:srgbClr val="DCE4ED"/>
            </a:solidFill>
            <a:prstDash val="solid"/>
          </a:ln>
        </p:spPr>
      </p:sp>
      <p:sp>
        <p:nvSpPr>
          <p:cNvPr id="79" name="整数也可能存不准">
            <a:extLst>
              <a:ext uri="{FF2B5EF4-FFF2-40B4-BE49-F238E27FC236}">
                <a16:creationId xmlns:a16="http://schemas.microsoft.com/office/drawing/2014/main" id="{2E92B86C-5C12-556F-4F83-01F654BBC05A}"/>
              </a:ext>
            </a:extLst>
          </p:cNvPr>
          <p:cNvSpPr/>
          <p:nvPr/>
        </p:nvSpPr>
        <p:spPr>
          <a:xfrm>
            <a:off x="7637703" y="4469202"/>
            <a:ext cx="38862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整数误差</a:t>
            </a:r>
            <a:endParaRPr lang="zh-CN" sz="16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1" name="输入整数">
            <a:extLst>
              <a:ext uri="{FF2B5EF4-FFF2-40B4-BE49-F238E27FC236}">
                <a16:creationId xmlns:a16="http://schemas.microsoft.com/office/drawing/2014/main" id="{10AAFDEB-BA43-95CD-E54C-97D5CD9AC2A5}"/>
              </a:ext>
            </a:extLst>
          </p:cNvPr>
          <p:cNvSpPr/>
          <p:nvPr/>
        </p:nvSpPr>
        <p:spPr>
          <a:xfrm>
            <a:off x="7637703" y="5211307"/>
            <a:ext cx="1608667" cy="1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0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输入整数</a:t>
            </a:r>
            <a:endParaRPr lang="zh-CN" sz="10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2" name="实际保存">
            <a:extLst>
              <a:ext uri="{FF2B5EF4-FFF2-40B4-BE49-F238E27FC236}">
                <a16:creationId xmlns:a16="http://schemas.microsoft.com/office/drawing/2014/main" id="{8A98FD7D-0FF8-D2C3-60F9-3F9CA7EF95CC}"/>
              </a:ext>
            </a:extLst>
          </p:cNvPr>
          <p:cNvSpPr/>
          <p:nvPr/>
        </p:nvSpPr>
        <p:spPr>
          <a:xfrm>
            <a:off x="9889837" y="5211307"/>
            <a:ext cx="1608667" cy="1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067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实际保存</a:t>
            </a:r>
            <a:endParaRPr lang="zh-CN" sz="1067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3" name="16 777 216">
            <a:extLst>
              <a:ext uri="{FF2B5EF4-FFF2-40B4-BE49-F238E27FC236}">
                <a16:creationId xmlns:a16="http://schemas.microsoft.com/office/drawing/2014/main" id="{936C310C-C2D1-5747-182E-2881A0FDE2C6}"/>
              </a:ext>
            </a:extLst>
          </p:cNvPr>
          <p:cNvSpPr/>
          <p:nvPr/>
        </p:nvSpPr>
        <p:spPr>
          <a:xfrm>
            <a:off x="7637703" y="5411752"/>
            <a:ext cx="160866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16 777 216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4" name="→">
            <a:extLst>
              <a:ext uri="{FF2B5EF4-FFF2-40B4-BE49-F238E27FC236}">
                <a16:creationId xmlns:a16="http://schemas.microsoft.com/office/drawing/2014/main" id="{840E3C80-5ED8-5EAD-9CA1-A7B91B654FC7}"/>
              </a:ext>
            </a:extLst>
          </p:cNvPr>
          <p:cNvSpPr/>
          <p:nvPr/>
        </p:nvSpPr>
        <p:spPr>
          <a:xfrm>
            <a:off x="9314103" y="5411752"/>
            <a:ext cx="52493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→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5" name="16 777 216">
            <a:extLst>
              <a:ext uri="{FF2B5EF4-FFF2-40B4-BE49-F238E27FC236}">
                <a16:creationId xmlns:a16="http://schemas.microsoft.com/office/drawing/2014/main" id="{0C165553-CD38-40D2-2651-2852EDDB2C16}"/>
              </a:ext>
            </a:extLst>
          </p:cNvPr>
          <p:cNvSpPr/>
          <p:nvPr/>
        </p:nvSpPr>
        <p:spPr>
          <a:xfrm>
            <a:off x="9889837" y="5411752"/>
            <a:ext cx="160866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16 777 216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6" name="Editable panel">
            <a:extLst>
              <a:ext uri="{FF2B5EF4-FFF2-40B4-BE49-F238E27FC236}">
                <a16:creationId xmlns:a16="http://schemas.microsoft.com/office/drawing/2014/main" id="{A88F7C63-3297-C554-393B-67CEEA056D11}"/>
              </a:ext>
            </a:extLst>
          </p:cNvPr>
          <p:cNvSpPr/>
          <p:nvPr/>
        </p:nvSpPr>
        <p:spPr>
          <a:xfrm>
            <a:off x="7578437" y="5650368"/>
            <a:ext cx="3996267" cy="270933"/>
          </a:xfrm>
          <a:prstGeom prst="roundRect">
            <a:avLst>
              <a:gd name="adj" fmla="val 21875"/>
            </a:avLst>
          </a:prstGeom>
          <a:solidFill>
            <a:srgbClr val="F9EBE6"/>
          </a:solidFill>
          <a:ln w="12700">
            <a:solidFill>
              <a:srgbClr val="F9EBE6">
                <a:alpha val="0"/>
              </a:srgbClr>
            </a:solidFill>
            <a:prstDash val="solid"/>
          </a:ln>
        </p:spPr>
      </p:sp>
      <p:sp>
        <p:nvSpPr>
          <p:cNvPr id="87" name="16 777 217">
            <a:extLst>
              <a:ext uri="{FF2B5EF4-FFF2-40B4-BE49-F238E27FC236}">
                <a16:creationId xmlns:a16="http://schemas.microsoft.com/office/drawing/2014/main" id="{6EA59EA2-A544-8C9F-EE95-E5E2DD7FF754}"/>
              </a:ext>
            </a:extLst>
          </p:cNvPr>
          <p:cNvSpPr/>
          <p:nvPr/>
        </p:nvSpPr>
        <p:spPr>
          <a:xfrm>
            <a:off x="7637703" y="5682685"/>
            <a:ext cx="160866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16 777 217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8" name="→">
            <a:extLst>
              <a:ext uri="{FF2B5EF4-FFF2-40B4-BE49-F238E27FC236}">
                <a16:creationId xmlns:a16="http://schemas.microsoft.com/office/drawing/2014/main" id="{9C1F20D1-9E7E-EAA2-807F-8B4E146968A5}"/>
              </a:ext>
            </a:extLst>
          </p:cNvPr>
          <p:cNvSpPr/>
          <p:nvPr/>
        </p:nvSpPr>
        <p:spPr>
          <a:xfrm>
            <a:off x="9314103" y="5682685"/>
            <a:ext cx="52493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→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9" name="16 777 216">
            <a:extLst>
              <a:ext uri="{FF2B5EF4-FFF2-40B4-BE49-F238E27FC236}">
                <a16:creationId xmlns:a16="http://schemas.microsoft.com/office/drawing/2014/main" id="{0466D7B7-1B79-E8F5-AF08-BA6CE38F2DBF}"/>
              </a:ext>
            </a:extLst>
          </p:cNvPr>
          <p:cNvSpPr/>
          <p:nvPr/>
        </p:nvSpPr>
        <p:spPr>
          <a:xfrm>
            <a:off x="9889837" y="5682685"/>
            <a:ext cx="160866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B85E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16 777 216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0" name="16 777 218">
            <a:extLst>
              <a:ext uri="{FF2B5EF4-FFF2-40B4-BE49-F238E27FC236}">
                <a16:creationId xmlns:a16="http://schemas.microsoft.com/office/drawing/2014/main" id="{94940936-7DEF-6DB2-1C5A-536ACC2E6C02}"/>
              </a:ext>
            </a:extLst>
          </p:cNvPr>
          <p:cNvSpPr/>
          <p:nvPr/>
        </p:nvSpPr>
        <p:spPr>
          <a:xfrm>
            <a:off x="7637703" y="5953618"/>
            <a:ext cx="160866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16 777 218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1" name="→">
            <a:extLst>
              <a:ext uri="{FF2B5EF4-FFF2-40B4-BE49-F238E27FC236}">
                <a16:creationId xmlns:a16="http://schemas.microsoft.com/office/drawing/2014/main" id="{D6E8DB82-F7E1-D361-F873-2CF8B2974E34}"/>
              </a:ext>
            </a:extLst>
          </p:cNvPr>
          <p:cNvSpPr/>
          <p:nvPr/>
        </p:nvSpPr>
        <p:spPr>
          <a:xfrm>
            <a:off x="9314103" y="5953618"/>
            <a:ext cx="52493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68798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→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2" name="16 777 218">
            <a:extLst>
              <a:ext uri="{FF2B5EF4-FFF2-40B4-BE49-F238E27FC236}">
                <a16:creationId xmlns:a16="http://schemas.microsoft.com/office/drawing/2014/main" id="{C22377B8-1D1C-1B39-C2B9-D3C622684D46}"/>
              </a:ext>
            </a:extLst>
          </p:cNvPr>
          <p:cNvSpPr/>
          <p:nvPr/>
        </p:nvSpPr>
        <p:spPr>
          <a:xfrm>
            <a:off x="9889837" y="5953618"/>
            <a:ext cx="160866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14283E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16 777 218</a:t>
            </a:r>
            <a:endParaRPr lang="zh-CN" sz="1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3" name="第一个遗漏的正整数：2²⁴ + 1">
            <a:extLst>
              <a:ext uri="{FF2B5EF4-FFF2-40B4-BE49-F238E27FC236}">
                <a16:creationId xmlns:a16="http://schemas.microsoft.com/office/drawing/2014/main" id="{1EDB548F-3544-41F4-D920-4B8694B3E734}"/>
              </a:ext>
            </a:extLst>
          </p:cNvPr>
          <p:cNvSpPr/>
          <p:nvPr/>
        </p:nvSpPr>
        <p:spPr>
          <a:xfrm>
            <a:off x="7639396" y="4856736"/>
            <a:ext cx="38862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zh-CN" altLang="en-US" sz="1333" dirty="0">
                <a:solidFill>
                  <a:srgbClr val="515EC2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第一个有误差的正整数：2²⁴ + 1</a:t>
            </a:r>
            <a:endParaRPr lang="zh-CN" sz="1333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5" name="1.010₂ × 2¹">
            <a:extLst>
              <a:ext uri="{FF2B5EF4-FFF2-40B4-BE49-F238E27FC236}">
                <a16:creationId xmlns:a16="http://schemas.microsoft.com/office/drawing/2014/main" id="{733B6C77-B7AA-C04F-E7E1-D9FD85D80257}"/>
              </a:ext>
            </a:extLst>
          </p:cNvPr>
          <p:cNvSpPr/>
          <p:nvPr/>
        </p:nvSpPr>
        <p:spPr>
          <a:xfrm>
            <a:off x="5165436" y="2187500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1.01</a:t>
            </a:r>
            <a:r>
              <a:rPr lang="en-US" altLang="zh-CN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sz="1333" b="1" u="sng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100</a:t>
            </a:r>
            <a:r>
              <a:rPr lang="zh-CN" altLang="en-US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solidFill>
                <a:srgbClr val="B85D4D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" name="1.010₂ × 2¹">
            <a:extLst>
              <a:ext uri="{FF2B5EF4-FFF2-40B4-BE49-F238E27FC236}">
                <a16:creationId xmlns:a16="http://schemas.microsoft.com/office/drawing/2014/main" id="{FD5FD85C-1704-1504-A94F-3538FDE3FD14}"/>
              </a:ext>
            </a:extLst>
          </p:cNvPr>
          <p:cNvSpPr/>
          <p:nvPr/>
        </p:nvSpPr>
        <p:spPr>
          <a:xfrm>
            <a:off x="6945130" y="2199523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1.01</a:t>
            </a:r>
            <a:r>
              <a:rPr lang="en-US" altLang="zh-CN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1333" b="1" u="sng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100</a:t>
            </a:r>
            <a:r>
              <a:rPr lang="zh-CN" altLang="en-US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solidFill>
                <a:srgbClr val="B85D4D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" name="1.010₂ × 2¹">
            <a:extLst>
              <a:ext uri="{FF2B5EF4-FFF2-40B4-BE49-F238E27FC236}">
                <a16:creationId xmlns:a16="http://schemas.microsoft.com/office/drawing/2014/main" id="{50459652-87CA-3AF0-8E34-65965AAA69A7}"/>
              </a:ext>
            </a:extLst>
          </p:cNvPr>
          <p:cNvSpPr/>
          <p:nvPr/>
        </p:nvSpPr>
        <p:spPr>
          <a:xfrm>
            <a:off x="1863437" y="2161413"/>
            <a:ext cx="1778000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zh-CN" altLang="en-US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1.0</a:t>
            </a:r>
            <a:r>
              <a:rPr lang="en-US" altLang="zh-CN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00</a:t>
            </a:r>
            <a:r>
              <a:rPr lang="en-US" altLang="zh-CN" sz="1333" b="1" u="sng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110</a:t>
            </a:r>
            <a:r>
              <a:rPr lang="zh-CN" altLang="en-US" sz="1333" dirty="0">
                <a:solidFill>
                  <a:srgbClr val="B85D4D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₂ × 2¹</a:t>
            </a:r>
            <a:endParaRPr lang="zh-CN" sz="1333" dirty="0">
              <a:solidFill>
                <a:srgbClr val="B85D4D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72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15" grpId="0" animBg="1"/>
      <p:bldP spid="18" grpId="0" animBg="1"/>
      <p:bldP spid="20" grpId="0" animBg="1"/>
      <p:bldP spid="23" grpId="0" animBg="1"/>
      <p:bldP spid="24" grpId="0" animBg="1"/>
      <p:bldP spid="27" grpId="0" animBg="1"/>
      <p:bldP spid="29" grpId="0" animBg="1"/>
      <p:bldP spid="32" grpId="0" animBg="1"/>
      <p:bldP spid="33" grpId="0" animBg="1"/>
      <p:bldP spid="44" grpId="0" animBg="1"/>
      <p:bldP spid="55" grpId="0" animBg="1"/>
      <p:bldP spid="66" grpId="0" animBg="1"/>
      <p:bldP spid="67" grpId="0" animBg="1"/>
      <p:bldP spid="69" grpId="0" animBg="1"/>
      <p:bldP spid="70" grpId="0" animBg="1"/>
      <p:bldP spid="71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9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5" grpId="0" animBg="1"/>
      <p:bldP spid="96" grpId="0" animBg="1"/>
      <p:bldP spid="9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7444-C660-8C44-9B4F-EBDBFFB60A6E}"/>
              </a:ext>
            </a:extLst>
          </p:cNvPr>
          <p:cNvSpPr txBox="1"/>
          <p:nvPr/>
        </p:nvSpPr>
        <p:spPr>
          <a:xfrm>
            <a:off x="268437" y="648101"/>
            <a:ext cx="7897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练习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CD21C-77A0-3244-8565-519BEFE9A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55" y="1408539"/>
            <a:ext cx="9717687" cy="37915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9278D5-789E-EC4C-8666-7123E413AA7A}"/>
              </a:ext>
            </a:extLst>
          </p:cNvPr>
          <p:cNvSpPr/>
          <p:nvPr/>
        </p:nvSpPr>
        <p:spPr>
          <a:xfrm>
            <a:off x="3312967" y="5730185"/>
            <a:ext cx="5566064" cy="4779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Trade-off: 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表示的精度 </a:t>
            </a: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&lt;-&gt;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可表示的范围和数的数量</a:t>
            </a:r>
          </a:p>
        </p:txBody>
      </p:sp>
    </p:spTree>
    <p:extLst>
      <p:ext uri="{BB962C8B-B14F-4D97-AF65-F5344CB8AC3E}">
        <p14:creationId xmlns:p14="http://schemas.microsoft.com/office/powerpoint/2010/main" val="153507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5">
                <a:extLst>
                  <a:ext uri="{FF2B5EF4-FFF2-40B4-BE49-F238E27FC236}">
                    <a16:creationId xmlns:a16="http://schemas.microsoft.com/office/drawing/2014/main" id="{E5AAE035-C891-E54F-B947-39F63008635E}"/>
                  </a:ext>
                </a:extLst>
              </p:cNvPr>
              <p:cNvSpPr txBox="1"/>
              <p:nvPr/>
            </p:nvSpPr>
            <p:spPr>
              <a:xfrm>
                <a:off x="268437" y="1423407"/>
                <a:ext cx="7113265" cy="4182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最小的不能被 </a:t>
                </a:r>
                <a:r>
                  <a:rPr lang="en-US" altLang="zh-CN" dirty="0">
                    <a:solidFill>
                      <a:schemeClr val="accent1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float</a:t>
                </a:r>
                <a:r>
                  <a:rPr lang="zh-CN" altLang="en-US" dirty="0">
                    <a:solidFill>
                      <a:schemeClr val="accent1"/>
                    </a:solidFill>
                    <a:latin typeface="Calibri" panose="020F0502020204030204" pitchFamily="34" charset="0"/>
                    <a:ea typeface="SimHei" panose="02010609060101010101" pitchFamily="49" charset="-122"/>
                    <a:cs typeface="Calibri" panose="020F0502020204030204" pitchFamily="34" charset="0"/>
                  </a:rPr>
                  <a:t> 精确表示的正整数值？</a:t>
                </a:r>
                <a:endParaRPr lang="en-US" altLang="zh-CN" dirty="0">
                  <a:solidFill>
                    <a:schemeClr val="accent1"/>
                  </a:solidFill>
                  <a:latin typeface="Calibri" panose="020F0502020204030204" pitchFamily="34" charset="0"/>
                  <a:ea typeface="SimHei" panose="02010609060101010101" pitchFamily="49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  <a:sym typeface="+mn-ea"/>
                      </a:rPr>
                      <m:t>𝑀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至少有 </a:t>
                </a:r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24</a:t>
                </a: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 位有效小数</a:t>
                </a:r>
                <a:endParaRPr lang="en-US" altLang="zh-CN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  <a:sym typeface="+mn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1.0000 0000 0000 0000 0000 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0001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endParaRPr lang="en-US" altLang="zh-CN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4472C4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给定一个实数，会因为该实数表示成 </a:t>
                </a:r>
                <a:r>
                  <a:rPr lang="en-US" altLang="zh-CN" dirty="0">
                    <a:solidFill>
                      <a:schemeClr val="accent1"/>
                    </a:solidFill>
                    <a:latin typeface="Consolas" panose="020B0609020204030204" pitchFamily="49" charset="0"/>
                    <a:ea typeface="SimHei" panose="02010609060101010101" pitchFamily="49" charset="-122"/>
                    <a:cs typeface="Consolas" panose="020B0609020204030204" pitchFamily="49" charset="0"/>
                  </a:rPr>
                  <a:t>float</a:t>
                </a:r>
                <a:r>
                  <a:rPr lang="zh-CN" altLang="en-US" dirty="0">
                    <a:solidFill>
                      <a:schemeClr val="accent1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zh-CN" altLang="en-US" dirty="0">
                    <a:solidFill>
                      <a:srgbClr val="4472C4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而发生误差。不考虑 </a:t>
                </a:r>
                <a:r>
                  <a:rPr lang="en-US" altLang="zh-CN" dirty="0" err="1">
                    <a:solidFill>
                      <a:srgbClr val="4472C4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NaN</a:t>
                </a:r>
                <a:r>
                  <a:rPr lang="en-US" altLang="zh-CN" dirty="0">
                    <a:solidFill>
                      <a:srgbClr val="4472C4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zh-CN" altLang="en-US" dirty="0">
                    <a:solidFill>
                      <a:srgbClr val="4472C4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和 </a:t>
                </a:r>
                <a:r>
                  <a:rPr lang="en-US" altLang="zh-CN" dirty="0">
                    <a:solidFill>
                      <a:srgbClr val="4472C4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inf </a:t>
                </a:r>
                <a:r>
                  <a:rPr lang="zh-CN" altLang="en-US" dirty="0">
                    <a:solidFill>
                      <a:srgbClr val="4472C4"/>
                    </a:solidFill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的情况， 该绝对误差的最大值为</a:t>
                </a:r>
                <a:endParaRPr lang="en-US" altLang="zh-CN" dirty="0">
                  <a:solidFill>
                    <a:srgbClr val="4472C4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:r>
                  <a:rPr lang="en-US" altLang="zh-CN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103</m:t>
                        </m:r>
                      </m:sup>
                    </m:sSup>
                    <m:r>
                      <a:rPr lang="en-US" altLang="zh-CN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104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C.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230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D.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231</m:t>
                        </m:r>
                      </m:sup>
                    </m:sSup>
                  </m:oMath>
                </a14:m>
                <a:endParaRPr lang="en-US" altLang="zh-CN" dirty="0">
                  <a:solidFill>
                    <a:srgbClr val="4472C4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</a:rPr>
                      <m:t>𝐸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 越大越好，舍入（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SimHei" panose="02010609060101010101" pitchFamily="49" charset="-122"/>
                        <a:cs typeface="Calibri" panose="020F0502020204030204" pitchFamily="34" charset="0"/>
                        <a:sym typeface="+mn-ea"/>
                      </a:rPr>
                      <m:t>𝑀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 至少有</a:t>
                </a:r>
                <a:r>
                  <a:rPr lang="en-US" altLang="zh-CN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24</a:t>
                </a: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  <a:sym typeface="+mn-ea"/>
                  </a:rPr>
                  <a:t>位有效小数</a:t>
                </a:r>
                <a:r>
                  <a:rPr lang="zh-CN" altLang="en-US" dirty="0">
                    <a:latin typeface="Arial" panose="020B0604020202020204" pitchFamily="34" charset="0"/>
                    <a:ea typeface="SimHei" panose="02010609060101010101" pitchFamily="49" charset="-122"/>
                    <a:cs typeface="Arial" panose="020B0604020202020204" pitchFamily="34" charset="0"/>
                  </a:rPr>
                  <a:t>）得越多越好</a:t>
                </a:r>
                <a:endPara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1.0000 0000 0000 0000 0000 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000</m:t>
                        </m:r>
                        <m: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127</m:t>
                        </m:r>
                      </m:sup>
                    </m:sSup>
                  </m:oMath>
                </a14:m>
                <a:endParaRPr lang="en-US" altLang="zh-CN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127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−24</m:t>
                        </m:r>
                      </m:sup>
                    </m:sSup>
                  </m:oMath>
                </a14:m>
                <a:endParaRPr lang="en-US" altLang="zh-CN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0" dirty="0">
                    <a:latin typeface="SimHei" panose="02010609060101010101" pitchFamily="49" charset="-122"/>
                    <a:ea typeface="SimHei" panose="02010609060101010101" pitchFamily="49" charset="-122"/>
                    <a:cs typeface="Cambria Math" panose="02040503050406030204" pitchFamily="18" charset="0"/>
                  </a:rPr>
                  <a:t>往往通过</a:t>
                </a:r>
                <a:r>
                  <a:rPr lang="zh-CN" altLang="en-US" b="0" dirty="0">
                    <a:solidFill>
                      <a:srgbClr val="FF000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Cambria Math" panose="02040503050406030204" pitchFamily="18" charset="0"/>
                  </a:rPr>
                  <a:t>二进制科学记数法</a:t>
                </a:r>
                <a:r>
                  <a:rPr lang="zh-CN" altLang="en-US" b="0" dirty="0">
                    <a:latin typeface="SimHei" panose="02010609060101010101" pitchFamily="49" charset="-122"/>
                    <a:ea typeface="SimHei" panose="02010609060101010101" pitchFamily="49" charset="-122"/>
                    <a:cs typeface="Cambria Math" panose="02040503050406030204" pitchFamily="18" charset="0"/>
                  </a:rPr>
                  <a:t>分析</a:t>
                </a:r>
                <a:endParaRPr lang="en-US" altLang="zh-CN" b="0" dirty="0">
                  <a:latin typeface="SimHei" panose="02010609060101010101" pitchFamily="49" charset="-122"/>
                  <a:ea typeface="SimHei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5">
                <a:extLst>
                  <a:ext uri="{FF2B5EF4-FFF2-40B4-BE49-F238E27FC236}">
                    <a16:creationId xmlns:a16="http://schemas.microsoft.com/office/drawing/2014/main" id="{E5AAE035-C891-E54F-B947-39F630086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37" y="1423407"/>
                <a:ext cx="7113265" cy="4182363"/>
              </a:xfrm>
              <a:prstGeom prst="rect">
                <a:avLst/>
              </a:prstGeom>
              <a:blipFill>
                <a:blip r:embed="rId2"/>
                <a:stretch>
                  <a:fillRect l="-535" b="-1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9CF7444-C660-8C44-9B4F-EBDBFFB60A6E}"/>
              </a:ext>
            </a:extLst>
          </p:cNvPr>
          <p:cNvSpPr txBox="1"/>
          <p:nvPr/>
        </p:nvSpPr>
        <p:spPr>
          <a:xfrm>
            <a:off x="268437" y="648101"/>
            <a:ext cx="7897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230203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6F51D-5612-7340-849D-DE3FCC6C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D2B367-B628-B1C6-5A78-D629AFD581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56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FB4F7F-0F85-48F4-2B12-7099460E688D}"/>
              </a:ext>
            </a:extLst>
          </p:cNvPr>
          <p:cNvSpPr txBox="1"/>
          <p:nvPr/>
        </p:nvSpPr>
        <p:spPr>
          <a:xfrm>
            <a:off x="473825" y="2809391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信息的处理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4B6B7-FC22-F93C-55EE-99C07668B383}"/>
              </a:ext>
            </a:extLst>
          </p:cNvPr>
          <p:cNvSpPr txBox="1"/>
          <p:nvPr/>
        </p:nvSpPr>
        <p:spPr>
          <a:xfrm>
            <a:off x="473825" y="364038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整型和浮点数的运算、数据类型转换</a:t>
            </a:r>
          </a:p>
        </p:txBody>
      </p:sp>
    </p:spTree>
    <p:extLst>
      <p:ext uri="{BB962C8B-B14F-4D97-AF65-F5344CB8AC3E}">
        <p14:creationId xmlns:p14="http://schemas.microsoft.com/office/powerpoint/2010/main" val="3983065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4C167-27FF-AE41-ABB8-ACEBDC65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A5190-501E-A757-8C85-AA04A3F4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22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3F3E60-183B-79B2-57B8-E69EECFC8DE4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整型的运算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00E3EF-243B-58AA-1534-34E7A472C36F}"/>
              </a:ext>
            </a:extLst>
          </p:cNvPr>
          <p:cNvSpPr txBox="1"/>
          <p:nvPr/>
        </p:nvSpPr>
        <p:spPr>
          <a:xfrm>
            <a:off x="813131" y="5317615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r>
              <a:rPr kumimoji="1" lang="en-US" altLang="zh-CN" dirty="0"/>
              <a:t>00…000</a:t>
            </a:r>
            <a:endParaRPr kumimoji="1"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A30D6E-A89A-5A3C-9F09-56337EE9B55B}"/>
              </a:ext>
            </a:extLst>
          </p:cNvPr>
          <p:cNvSpPr txBox="1"/>
          <p:nvPr/>
        </p:nvSpPr>
        <p:spPr>
          <a:xfrm>
            <a:off x="813132" y="390509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r>
              <a:rPr kumimoji="1" lang="en-US" altLang="zh-CN" dirty="0"/>
              <a:t>11…111</a:t>
            </a:r>
            <a:endParaRPr kumimoji="1" lang="zh-CN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D2C4A9-4AB3-097F-912A-D9552CE85022}"/>
              </a:ext>
            </a:extLst>
          </p:cNvPr>
          <p:cNvSpPr txBox="1"/>
          <p:nvPr/>
        </p:nvSpPr>
        <p:spPr>
          <a:xfrm>
            <a:off x="813131" y="1602261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011…111</a:t>
            </a:r>
            <a:endParaRPr kumimoji="1" lang="zh-CN" altLang="en-US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33BE688-3A35-6D48-9C55-31ED817A7A4E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1335871" y="4980689"/>
            <a:ext cx="0" cy="336926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1AB1A72-51BC-94FC-950F-BDE96AFC1B55}"/>
              </a:ext>
            </a:extLst>
          </p:cNvPr>
          <p:cNvSpPr txBox="1"/>
          <p:nvPr/>
        </p:nvSpPr>
        <p:spPr>
          <a:xfrm>
            <a:off x="1335868" y="496448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543285E-D029-BE70-2BB1-0E1A4F1E1B39}"/>
              </a:ext>
            </a:extLst>
          </p:cNvPr>
          <p:cNvCxnSpPr/>
          <p:nvPr/>
        </p:nvCxnSpPr>
        <p:spPr>
          <a:xfrm flipH="1" flipV="1">
            <a:off x="1335870" y="4306836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DE2C458-1651-EA01-5415-647ADF32DD7F}"/>
              </a:ext>
            </a:extLst>
          </p:cNvPr>
          <p:cNvSpPr txBox="1"/>
          <p:nvPr/>
        </p:nvSpPr>
        <p:spPr>
          <a:xfrm>
            <a:off x="1335868" y="4290633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50732ED-237C-33B2-E5C0-9A0A05B8847E}"/>
              </a:ext>
            </a:extLst>
          </p:cNvPr>
          <p:cNvCxnSpPr/>
          <p:nvPr/>
        </p:nvCxnSpPr>
        <p:spPr>
          <a:xfrm flipH="1" flipV="1">
            <a:off x="1335870" y="3568171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6936FC7-D7B0-7F8C-3C2B-08357440D3DC}"/>
              </a:ext>
            </a:extLst>
          </p:cNvPr>
          <p:cNvSpPr txBox="1"/>
          <p:nvPr/>
        </p:nvSpPr>
        <p:spPr>
          <a:xfrm>
            <a:off x="1335868" y="355196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91A3DBB-B989-CC0A-A5A8-4C32493FC0AA}"/>
              </a:ext>
            </a:extLst>
          </p:cNvPr>
          <p:cNvCxnSpPr/>
          <p:nvPr/>
        </p:nvCxnSpPr>
        <p:spPr>
          <a:xfrm flipH="1" flipV="1">
            <a:off x="1335870" y="2715910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167C085-ECFC-E648-487B-B8CD3298511F}"/>
              </a:ext>
            </a:extLst>
          </p:cNvPr>
          <p:cNvSpPr txBox="1"/>
          <p:nvPr/>
        </p:nvSpPr>
        <p:spPr>
          <a:xfrm>
            <a:off x="1335868" y="269970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1EA8702-BDB4-B2AD-20A5-F911D65C698C}"/>
              </a:ext>
            </a:extLst>
          </p:cNvPr>
          <p:cNvCxnSpPr/>
          <p:nvPr/>
        </p:nvCxnSpPr>
        <p:spPr>
          <a:xfrm flipH="1" flipV="1">
            <a:off x="1335870" y="1998416"/>
            <a:ext cx="1" cy="33692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A6559B1-0A69-DC1F-2CEC-E911A8EE92D1}"/>
              </a:ext>
            </a:extLst>
          </p:cNvPr>
          <p:cNvSpPr txBox="1"/>
          <p:nvPr/>
        </p:nvSpPr>
        <p:spPr>
          <a:xfrm>
            <a:off x="1335868" y="1982213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C89BFC87-FA87-EB0F-7658-28110CCE70B8}"/>
              </a:ext>
            </a:extLst>
          </p:cNvPr>
          <p:cNvCxnSpPr>
            <a:cxnSpLocks/>
            <a:stCxn id="45" idx="0"/>
            <a:endCxn id="43" idx="2"/>
          </p:cNvCxnSpPr>
          <p:nvPr/>
        </p:nvCxnSpPr>
        <p:spPr>
          <a:xfrm rot="16200000" flipH="1">
            <a:off x="-706472" y="3644604"/>
            <a:ext cx="4084686" cy="12700"/>
          </a:xfrm>
          <a:prstGeom prst="bentConnector5">
            <a:avLst>
              <a:gd name="adj1" fmla="val -5597"/>
              <a:gd name="adj2" fmla="val -5051386"/>
              <a:gd name="adj3" fmla="val 105597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FBA917B-3006-28E3-EB42-3A7E4045F47E}"/>
              </a:ext>
            </a:extLst>
          </p:cNvPr>
          <p:cNvSpPr txBox="1"/>
          <p:nvPr/>
        </p:nvSpPr>
        <p:spPr>
          <a:xfrm>
            <a:off x="268438" y="338350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</a:rPr>
              <a:t>+1</a:t>
            </a:r>
            <a:endParaRPr kumimoji="1" lang="zh-CN" altLang="en-US" dirty="0">
              <a:solidFill>
                <a:schemeClr val="accent3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9A2BBA-26A0-EAA2-DA3F-6FA9E54C2F5C}"/>
              </a:ext>
            </a:extLst>
          </p:cNvPr>
          <p:cNvSpPr txBox="1"/>
          <p:nvPr/>
        </p:nvSpPr>
        <p:spPr>
          <a:xfrm rot="5400000">
            <a:off x="1227800" y="464723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C2B441-F43C-DDA9-CAE8-7DED8916FAF4}"/>
              </a:ext>
            </a:extLst>
          </p:cNvPr>
          <p:cNvSpPr txBox="1"/>
          <p:nvPr/>
        </p:nvSpPr>
        <p:spPr>
          <a:xfrm>
            <a:off x="805982" y="3127824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000…000</a:t>
            </a:r>
            <a:endParaRPr kumimoji="1" lang="zh-CN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7144F0-6C5F-3584-1390-E5411A55FFD7}"/>
              </a:ext>
            </a:extLst>
          </p:cNvPr>
          <p:cNvSpPr txBox="1"/>
          <p:nvPr/>
        </p:nvSpPr>
        <p:spPr>
          <a:xfrm rot="5400000">
            <a:off x="1227800" y="233292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95A119-86BD-25D1-CD07-F0BEFEEE8546}"/>
              </a:ext>
            </a:extLst>
          </p:cNvPr>
          <p:cNvSpPr txBox="1"/>
          <p:nvPr/>
        </p:nvSpPr>
        <p:spPr>
          <a:xfrm>
            <a:off x="6721626" y="1334316"/>
            <a:ext cx="6516253" cy="33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左移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可用来实现乘法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截断溢出位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右移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算术右移、逻辑右移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向下舍入：权重为正的低位都被丢掉了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要求整数除法向零舍入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hlinkClick r:id="rId3"/>
              </a:rPr>
              <a:t>例子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BEC4C-AD7D-5D9B-5347-68FB425ABB51}"/>
              </a:ext>
            </a:extLst>
          </p:cNvPr>
          <p:cNvSpPr txBox="1"/>
          <p:nvPr/>
        </p:nvSpPr>
        <p:spPr>
          <a:xfrm>
            <a:off x="2527400" y="1334316"/>
            <a:ext cx="4194226" cy="544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加法：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本质是位模式二进制加法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封闭性：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截断</a:t>
            </a:r>
            <a:r>
              <a:rPr kumimoji="1" lang="zh-CN" alt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溢出位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结合律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单位元：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逆元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：取反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交换律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乘法：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本质是位模式二进制乘法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封闭性：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截断溢出位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结合律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单位元：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交换律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分配律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交换环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7444-C660-8C44-9B4F-EBDBFFB60A6E}"/>
              </a:ext>
            </a:extLst>
          </p:cNvPr>
          <p:cNvSpPr txBox="1"/>
          <p:nvPr/>
        </p:nvSpPr>
        <p:spPr>
          <a:xfrm>
            <a:off x="268437" y="648101"/>
            <a:ext cx="7897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练习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5AD23-7704-7944-B92D-B78EF26DA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59" y="1531316"/>
            <a:ext cx="9939482" cy="405662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5EBDB4A-A73B-5FE6-1BA1-6648D86E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23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B5FE13-8494-605D-E9DA-1386F693C612}"/>
              </a:ext>
            </a:extLst>
          </p:cNvPr>
          <p:cNvCxnSpPr/>
          <p:nvPr/>
        </p:nvCxnSpPr>
        <p:spPr>
          <a:xfrm flipV="1">
            <a:off x="8729472" y="1232876"/>
            <a:ext cx="0" cy="3886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FAD7F1-12BC-4EC8-7788-0CB10213DC6E}"/>
              </a:ext>
            </a:extLst>
          </p:cNvPr>
          <p:cNvSpPr txBox="1"/>
          <p:nvPr/>
        </p:nvSpPr>
        <p:spPr>
          <a:xfrm>
            <a:off x="6205616" y="843629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同位长整型类型转换：位模式不变，改变解读方式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AC079-D676-1AA7-3C9E-32BE82207434}"/>
              </a:ext>
            </a:extLst>
          </p:cNvPr>
          <p:cNvSpPr txBox="1"/>
          <p:nvPr/>
        </p:nvSpPr>
        <p:spPr>
          <a:xfrm>
            <a:off x="11178728" y="224360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1A6C40-B38C-AFCB-7A46-647AAEDED612}"/>
              </a:ext>
            </a:extLst>
          </p:cNvPr>
          <p:cNvSpPr txBox="1"/>
          <p:nvPr/>
        </p:nvSpPr>
        <p:spPr>
          <a:xfrm>
            <a:off x="11178728" y="272671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1EAAE-8A29-CC77-2A9B-6B62E325F93E}"/>
              </a:ext>
            </a:extLst>
          </p:cNvPr>
          <p:cNvSpPr txBox="1"/>
          <p:nvPr/>
        </p:nvSpPr>
        <p:spPr>
          <a:xfrm>
            <a:off x="11178728" y="320981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705C66-AD09-CF7C-2553-03DDF389CB56}"/>
              </a:ext>
            </a:extLst>
          </p:cNvPr>
          <p:cNvSpPr txBox="1"/>
          <p:nvPr/>
        </p:nvSpPr>
        <p:spPr>
          <a:xfrm>
            <a:off x="11178728" y="365691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BFE8C-71BB-A4C4-3B41-70183565B96B}"/>
              </a:ext>
            </a:extLst>
          </p:cNvPr>
          <p:cNvSpPr txBox="1"/>
          <p:nvPr/>
        </p:nvSpPr>
        <p:spPr>
          <a:xfrm>
            <a:off x="11171719" y="4140701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2A781-0C11-9013-9579-40292D963DCA}"/>
              </a:ext>
            </a:extLst>
          </p:cNvPr>
          <p:cNvSpPr txBox="1"/>
          <p:nvPr/>
        </p:nvSpPr>
        <p:spPr>
          <a:xfrm>
            <a:off x="11178728" y="4587801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37C76-4F2F-4DF5-F3BB-BC6C269BCAFD}"/>
              </a:ext>
            </a:extLst>
          </p:cNvPr>
          <p:cNvSpPr txBox="1"/>
          <p:nvPr/>
        </p:nvSpPr>
        <p:spPr>
          <a:xfrm>
            <a:off x="11180863" y="5070907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18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275A2-1A64-2F5D-3DCA-A50C2CF4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82762-5D96-5EDA-0D38-64EAA465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24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DD13C-142F-9924-A451-B963B4B9D07D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浮点数的运算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DD14FD-D88B-714D-3A2A-28070FBAB720}"/>
              </a:ext>
            </a:extLst>
          </p:cNvPr>
          <p:cNvSpPr txBox="1"/>
          <p:nvPr/>
        </p:nvSpPr>
        <p:spPr>
          <a:xfrm>
            <a:off x="268436" y="1232876"/>
            <a:ext cx="10238851" cy="544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大致过程（硬件并不是这样做的）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算出实数运算的精确值，表示为二进制科学记数法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转换为浮点表示，根据浮点表示判断是否溢出</a:t>
            </a:r>
            <a:r>
              <a:rPr kumimoji="1" lang="en-US" altLang="zh-CN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kumimoji="1" lang="zh-CN" altLang="en-US" dirty="0">
                <a:solidFill>
                  <a:schemeClr val="accent3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舍入</a:t>
            </a:r>
            <a:endParaRPr kumimoji="1" lang="en-US" altLang="zh-CN" dirty="0">
              <a:solidFill>
                <a:schemeClr val="accent3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加法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可交换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不可结合</a:t>
            </a: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float: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(3.14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1e10)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1e10 != 3.14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(1e10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1e10)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不严格单调</a:t>
            </a:r>
            <a:r>
              <a:rPr kumimoji="1" lang="zh-CN" altLang="en-US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：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float: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  <a:r>
              <a:rPr lang="en-US" altLang="zh-CN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24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+ 1 = (2</a:t>
            </a:r>
            <a:r>
              <a:rPr lang="en-US" altLang="zh-CN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– 1)  + 1</a:t>
            </a:r>
            <a:endParaRPr kumimoji="1" lang="en-US" altLang="zh-CN" dirty="0">
              <a:solidFill>
                <a:srgbClr val="FF0000"/>
              </a:solidFill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是单位元，除了 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inf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和 </a:t>
            </a:r>
            <a:r>
              <a:rPr lang="en-US" altLang="zh-CN" dirty="0" err="1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NaN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之外都有加法逆元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乘法</a:t>
            </a:r>
            <a:endParaRPr kumimoji="1" lang="en-US" altLang="zh-CN" b="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可交换</a:t>
            </a:r>
            <a:endParaRPr kumimoji="1" lang="en-US" altLang="zh-CN" b="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0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不可结合</a:t>
            </a:r>
            <a:r>
              <a:rPr kumimoji="1" lang="zh-CN" altLang="en-US" b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1800" dirty="0">
                <a:solidFill>
                  <a:prstClr val="black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float: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(1e20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1e20)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1e-20 != 1e20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(1e20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zh-CN" altLang="en-US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1e-20)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不严格单调</a:t>
            </a:r>
            <a:r>
              <a:rPr kumimoji="1" lang="zh-CN" altLang="en-US" sz="1800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：</a:t>
            </a:r>
            <a:r>
              <a:rPr lang="en-US" altLang="zh-CN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float: </a:t>
            </a:r>
            <a:r>
              <a:rPr kumimoji="1" lang="en-US" altLang="zh-CN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100.00001 * 1.3 == 100.0 * 1.3</a:t>
            </a:r>
            <a:r>
              <a:rPr kumimoji="1" lang="zh-CN" altLang="en-US" dirty="0">
                <a:latin typeface="Consolas" panose="020B0609020204030204" pitchFamily="49" charset="0"/>
                <a:ea typeface="SimHei" panose="02010609060101010101" pitchFamily="49" charset="-122"/>
                <a:cs typeface="Consolas" panose="020B0609020204030204" pitchFamily="49" charset="0"/>
              </a:rPr>
              <a:t> 或者两侧同时溢出</a:t>
            </a:r>
            <a:endParaRPr kumimoji="1" lang="en-US" altLang="zh-CN" sz="1800" dirty="0">
              <a:latin typeface="Consolas" panose="020B0609020204030204" pitchFamily="49" charset="0"/>
              <a:ea typeface="SimHei" panose="02010609060101010101" pitchFamily="49" charset="-122"/>
              <a:cs typeface="Consolas" panose="020B0609020204030204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平方非负</a:t>
            </a:r>
            <a:r>
              <a:rPr lang="zh-CN" altLang="en-US" sz="18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1800" dirty="0">
                <a:solidFill>
                  <a:schemeClr val="accent1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 &gt; 0 =&gt; c * c &gt; 0?</a:t>
            </a:r>
            <a:endParaRPr lang="zh-CN" altLang="en-US" sz="1800" dirty="0">
              <a:solidFill>
                <a:schemeClr val="accent1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A8503-2321-6384-3220-A1BCC632DD35}"/>
              </a:ext>
            </a:extLst>
          </p:cNvPr>
          <p:cNvSpPr txBox="1"/>
          <p:nvPr/>
        </p:nvSpPr>
        <p:spPr>
          <a:xfrm>
            <a:off x="10174069" y="48695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SimHei" panose="02010609060101010101" pitchFamily="49" charset="-122"/>
                <a:ea typeface="SimHei" panose="02010609060101010101" pitchFamily="49" charset="-122"/>
                <a:hlinkClick r:id="rId3"/>
              </a:rPr>
              <a:t>例子</a:t>
            </a:r>
            <a:endParaRPr kumimoji="1" lang="zh-CN" alt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68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7444-C660-8C44-9B4F-EBDBFFB60A6E}"/>
              </a:ext>
            </a:extLst>
          </p:cNvPr>
          <p:cNvSpPr txBox="1"/>
          <p:nvPr/>
        </p:nvSpPr>
        <p:spPr>
          <a:xfrm>
            <a:off x="268437" y="648101"/>
            <a:ext cx="7897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练习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EB512-D795-874F-820B-1FCE7C69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554330"/>
            <a:ext cx="9810750" cy="39888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C049AA-03B9-5067-1EE9-43763A68F935}"/>
              </a:ext>
            </a:extLst>
          </p:cNvPr>
          <p:cNvSpPr txBox="1"/>
          <p:nvPr/>
        </p:nvSpPr>
        <p:spPr>
          <a:xfrm>
            <a:off x="11001375" y="252623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80812-D4AF-0BC1-4E2A-EA1E2C5AD2FF}"/>
              </a:ext>
            </a:extLst>
          </p:cNvPr>
          <p:cNvSpPr txBox="1"/>
          <p:nvPr/>
        </p:nvSpPr>
        <p:spPr>
          <a:xfrm>
            <a:off x="11001375" y="3032358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43FAD-FB31-FE56-F764-86BF11E1A9D3}"/>
              </a:ext>
            </a:extLst>
          </p:cNvPr>
          <p:cNvSpPr txBox="1"/>
          <p:nvPr/>
        </p:nvSpPr>
        <p:spPr>
          <a:xfrm>
            <a:off x="11001375" y="3498146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290D2-0F91-CB0D-DD34-BD2E8E992108}"/>
              </a:ext>
            </a:extLst>
          </p:cNvPr>
          <p:cNvSpPr txBox="1"/>
          <p:nvPr/>
        </p:nvSpPr>
        <p:spPr>
          <a:xfrm>
            <a:off x="11001375" y="4004266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754DD-DEBF-F6B1-47CB-E5F9640E6F24}"/>
              </a:ext>
            </a:extLst>
          </p:cNvPr>
          <p:cNvSpPr txBox="1"/>
          <p:nvPr/>
        </p:nvSpPr>
        <p:spPr>
          <a:xfrm>
            <a:off x="11001375" y="4510386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D1711-4008-E14A-B02D-BBDC01431A4B}"/>
              </a:ext>
            </a:extLst>
          </p:cNvPr>
          <p:cNvSpPr txBox="1"/>
          <p:nvPr/>
        </p:nvSpPr>
        <p:spPr>
          <a:xfrm>
            <a:off x="11001375" y="5016506"/>
            <a:ext cx="29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58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7444-C660-8C44-9B4F-EBDBFFB60A6E}"/>
              </a:ext>
            </a:extLst>
          </p:cNvPr>
          <p:cNvSpPr txBox="1"/>
          <p:nvPr/>
        </p:nvSpPr>
        <p:spPr>
          <a:xfrm>
            <a:off x="268437" y="648101"/>
            <a:ext cx="7897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练习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66F43-05AE-E940-9FB7-0996651C0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34" y="1617809"/>
            <a:ext cx="10010486" cy="43562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AB70A2-B6A4-F0DC-407F-1F30D5766148}"/>
              </a:ext>
            </a:extLst>
          </p:cNvPr>
          <p:cNvSpPr txBox="1"/>
          <p:nvPr/>
        </p:nvSpPr>
        <p:spPr>
          <a:xfrm>
            <a:off x="10693920" y="286706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0AF97-9B84-6564-06A6-C9D0BDA806A5}"/>
              </a:ext>
            </a:extLst>
          </p:cNvPr>
          <p:cNvSpPr txBox="1"/>
          <p:nvPr/>
        </p:nvSpPr>
        <p:spPr>
          <a:xfrm>
            <a:off x="10693920" y="333534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F876A-3029-5C66-CCAA-BB54565993A7}"/>
              </a:ext>
            </a:extLst>
          </p:cNvPr>
          <p:cNvSpPr txBox="1"/>
          <p:nvPr/>
        </p:nvSpPr>
        <p:spPr>
          <a:xfrm>
            <a:off x="10712355" y="412139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Y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EB7B6-E861-E71D-5E56-1B7E24028191}"/>
              </a:ext>
            </a:extLst>
          </p:cNvPr>
          <p:cNvSpPr txBox="1"/>
          <p:nvPr/>
        </p:nvSpPr>
        <p:spPr>
          <a:xfrm>
            <a:off x="10730790" y="490744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FE5C0-A698-1BD7-068A-1DACBD88F560}"/>
              </a:ext>
            </a:extLst>
          </p:cNvPr>
          <p:cNvSpPr txBox="1"/>
          <p:nvPr/>
        </p:nvSpPr>
        <p:spPr>
          <a:xfrm>
            <a:off x="10730790" y="544223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N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9935B-3F8D-BEBF-E932-2A9A2483033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06143" y="3361776"/>
            <a:ext cx="20574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1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65BD-647E-9595-03B8-117AE48C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9F34DC-CA9F-0660-5C21-10DDC30D26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56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9A371C-00AA-0AA4-04C5-59C896BB905B}"/>
              </a:ext>
            </a:extLst>
          </p:cNvPr>
          <p:cNvSpPr txBox="1"/>
          <p:nvPr/>
        </p:nvSpPr>
        <p:spPr>
          <a:xfrm>
            <a:off x="473825" y="2809391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信息的存储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CE718-9404-68E0-2477-2BC6F149EA01}"/>
              </a:ext>
            </a:extLst>
          </p:cNvPr>
          <p:cNvSpPr txBox="1"/>
          <p:nvPr/>
        </p:nvSpPr>
        <p:spPr>
          <a:xfrm>
            <a:off x="473825" y="3640388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虚拟地址空间和虚拟内存、大端法和小端法</a:t>
            </a:r>
          </a:p>
        </p:txBody>
      </p:sp>
    </p:spTree>
    <p:extLst>
      <p:ext uri="{BB962C8B-B14F-4D97-AF65-F5344CB8AC3E}">
        <p14:creationId xmlns:p14="http://schemas.microsoft.com/office/powerpoint/2010/main" val="3943726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B3AC-1A18-18C0-5E6F-76DC5EB2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9289-2E90-A09D-0BCC-AEE54FAC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28</a:t>
            </a:fld>
            <a:endParaRPr lang="en-US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12B98-FCC6-605F-4902-0541DA81E79B}"/>
              </a:ext>
            </a:extLst>
          </p:cNvPr>
          <p:cNvSpPr txBox="1"/>
          <p:nvPr/>
        </p:nvSpPr>
        <p:spPr>
          <a:xfrm>
            <a:off x="268438" y="648101"/>
            <a:ext cx="4533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虚拟化：一种设计哲学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7B253-C809-AE16-D048-20C28EA1F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28" y="4592095"/>
            <a:ext cx="2057988" cy="897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B44AD9-957F-D8E2-5005-A8070F2452C1}"/>
              </a:ext>
            </a:extLst>
          </p:cNvPr>
          <p:cNvSpPr txBox="1"/>
          <p:nvPr/>
        </p:nvSpPr>
        <p:spPr>
          <a:xfrm>
            <a:off x="4127866" y="48562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物理内存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BFF1B-7F47-4FD7-A890-2778BAD90A03}"/>
              </a:ext>
            </a:extLst>
          </p:cNvPr>
          <p:cNvSpPr/>
          <p:nvPr/>
        </p:nvSpPr>
        <p:spPr>
          <a:xfrm>
            <a:off x="896983" y="3922207"/>
            <a:ext cx="10398034" cy="4441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概念上的抽象层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E9692-C9F5-1853-5B67-4F2A9E353855}"/>
              </a:ext>
            </a:extLst>
          </p:cNvPr>
          <p:cNvSpPr/>
          <p:nvPr/>
        </p:nvSpPr>
        <p:spPr>
          <a:xfrm>
            <a:off x="1164772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6FA865-F33C-7CCE-722B-208841B1F36F}"/>
              </a:ext>
            </a:extLst>
          </p:cNvPr>
          <p:cNvSpPr/>
          <p:nvPr/>
        </p:nvSpPr>
        <p:spPr>
          <a:xfrm>
            <a:off x="1510938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3FFB40-D00E-7CE4-4DC2-1995F4C075CC}"/>
              </a:ext>
            </a:extLst>
          </p:cNvPr>
          <p:cNvSpPr/>
          <p:nvPr/>
        </p:nvSpPr>
        <p:spPr>
          <a:xfrm>
            <a:off x="1861458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8669B9-380F-A74D-05B6-5CA50EBBE94E}"/>
              </a:ext>
            </a:extLst>
          </p:cNvPr>
          <p:cNvSpPr/>
          <p:nvPr/>
        </p:nvSpPr>
        <p:spPr>
          <a:xfrm>
            <a:off x="2207624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82E41-A799-FF6C-B0B7-A9408CC61083}"/>
              </a:ext>
            </a:extLst>
          </p:cNvPr>
          <p:cNvSpPr/>
          <p:nvPr/>
        </p:nvSpPr>
        <p:spPr>
          <a:xfrm>
            <a:off x="2558144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08621E-ECFB-62DA-53D0-F7902A1D973B}"/>
              </a:ext>
            </a:extLst>
          </p:cNvPr>
          <p:cNvSpPr/>
          <p:nvPr/>
        </p:nvSpPr>
        <p:spPr>
          <a:xfrm>
            <a:off x="2904310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37E06B-11C5-097D-5319-67E941DECF19}"/>
              </a:ext>
            </a:extLst>
          </p:cNvPr>
          <p:cNvSpPr/>
          <p:nvPr/>
        </p:nvSpPr>
        <p:spPr>
          <a:xfrm>
            <a:off x="3254830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48587-C42D-A5A1-3233-96A18E786475}"/>
              </a:ext>
            </a:extLst>
          </p:cNvPr>
          <p:cNvSpPr/>
          <p:nvPr/>
        </p:nvSpPr>
        <p:spPr>
          <a:xfrm>
            <a:off x="3600996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951881-43D4-2E41-216A-837C02BE5A81}"/>
              </a:ext>
            </a:extLst>
          </p:cNvPr>
          <p:cNvSpPr/>
          <p:nvPr/>
        </p:nvSpPr>
        <p:spPr>
          <a:xfrm>
            <a:off x="3952606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F54086-C5AA-D2E2-6884-2E426B8AAE9D}"/>
              </a:ext>
            </a:extLst>
          </p:cNvPr>
          <p:cNvSpPr/>
          <p:nvPr/>
        </p:nvSpPr>
        <p:spPr>
          <a:xfrm>
            <a:off x="4298772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21405-64CC-D420-245B-5B5C07E2FB3B}"/>
              </a:ext>
            </a:extLst>
          </p:cNvPr>
          <p:cNvSpPr/>
          <p:nvPr/>
        </p:nvSpPr>
        <p:spPr>
          <a:xfrm>
            <a:off x="4649292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844A40-B4CA-0459-B51E-A388150DB634}"/>
              </a:ext>
            </a:extLst>
          </p:cNvPr>
          <p:cNvSpPr/>
          <p:nvPr/>
        </p:nvSpPr>
        <p:spPr>
          <a:xfrm>
            <a:off x="4995458" y="1983003"/>
            <a:ext cx="184621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  <a:endParaRPr kumimoji="1"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724F4C-6BBC-541E-5B0C-B3D4D94D322A}"/>
              </a:ext>
            </a:extLst>
          </p:cNvPr>
          <p:cNvSpPr/>
          <p:nvPr/>
        </p:nvSpPr>
        <p:spPr>
          <a:xfrm>
            <a:off x="6846022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DFDDA4-A603-F487-EC74-2EC855923F8F}"/>
              </a:ext>
            </a:extLst>
          </p:cNvPr>
          <p:cNvSpPr/>
          <p:nvPr/>
        </p:nvSpPr>
        <p:spPr>
          <a:xfrm>
            <a:off x="7192188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EB80C-BC00-6CEE-9999-B02B073E908D}"/>
              </a:ext>
            </a:extLst>
          </p:cNvPr>
          <p:cNvSpPr/>
          <p:nvPr/>
        </p:nvSpPr>
        <p:spPr>
          <a:xfrm>
            <a:off x="7542708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29680C-AE60-E789-9691-C166B5251167}"/>
              </a:ext>
            </a:extLst>
          </p:cNvPr>
          <p:cNvSpPr/>
          <p:nvPr/>
        </p:nvSpPr>
        <p:spPr>
          <a:xfrm>
            <a:off x="7888874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A41922-A2C1-DCA4-CF93-D5DEE264C67D}"/>
              </a:ext>
            </a:extLst>
          </p:cNvPr>
          <p:cNvSpPr/>
          <p:nvPr/>
        </p:nvSpPr>
        <p:spPr>
          <a:xfrm>
            <a:off x="8239394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488240-8318-E0EB-05E3-E78399B61AA0}"/>
              </a:ext>
            </a:extLst>
          </p:cNvPr>
          <p:cNvSpPr/>
          <p:nvPr/>
        </p:nvSpPr>
        <p:spPr>
          <a:xfrm>
            <a:off x="8585560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674419-FC38-4797-1EB7-FC73B2E2E59E}"/>
              </a:ext>
            </a:extLst>
          </p:cNvPr>
          <p:cNvSpPr/>
          <p:nvPr/>
        </p:nvSpPr>
        <p:spPr>
          <a:xfrm>
            <a:off x="8936080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875842-5EAE-770A-C636-3052AF58EAE2}"/>
              </a:ext>
            </a:extLst>
          </p:cNvPr>
          <p:cNvSpPr/>
          <p:nvPr/>
        </p:nvSpPr>
        <p:spPr>
          <a:xfrm>
            <a:off x="9282246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4BD972-CBE0-1EBA-ECEE-0BCBD6E36DDF}"/>
              </a:ext>
            </a:extLst>
          </p:cNvPr>
          <p:cNvSpPr/>
          <p:nvPr/>
        </p:nvSpPr>
        <p:spPr>
          <a:xfrm>
            <a:off x="9633856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4699CC-188F-784C-502D-788504EB4622}"/>
              </a:ext>
            </a:extLst>
          </p:cNvPr>
          <p:cNvSpPr/>
          <p:nvPr/>
        </p:nvSpPr>
        <p:spPr>
          <a:xfrm>
            <a:off x="9980022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C3724C-BCD6-D49B-A9BC-AEA12188AD5D}"/>
              </a:ext>
            </a:extLst>
          </p:cNvPr>
          <p:cNvSpPr/>
          <p:nvPr/>
        </p:nvSpPr>
        <p:spPr>
          <a:xfrm>
            <a:off x="10330542" y="1983004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3552B9-4B17-FC73-4386-01FF86E2741E}"/>
              </a:ext>
            </a:extLst>
          </p:cNvPr>
          <p:cNvSpPr/>
          <p:nvPr/>
        </p:nvSpPr>
        <p:spPr>
          <a:xfrm>
            <a:off x="10676708" y="1983003"/>
            <a:ext cx="350520" cy="1632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56C4A7-68E8-8621-8D85-ADD7C5CA2723}"/>
              </a:ext>
            </a:extLst>
          </p:cNvPr>
          <p:cNvSpPr txBox="1"/>
          <p:nvPr/>
        </p:nvSpPr>
        <p:spPr>
          <a:xfrm>
            <a:off x="1056847" y="149061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虚拟内存：大而一致的连续空间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C887F7B-822D-0EDF-9ADC-30B3B9B13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274" y="4586568"/>
            <a:ext cx="2049972" cy="97892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06F18BC-5118-C368-F6C8-16E9379220A3}"/>
              </a:ext>
            </a:extLst>
          </p:cNvPr>
          <p:cNvSpPr txBox="1"/>
          <p:nvPr/>
        </p:nvSpPr>
        <p:spPr>
          <a:xfrm>
            <a:off x="9546267" y="486505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磁盘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6348A0-A149-F466-C60F-C61EB1B21D9F}"/>
              </a:ext>
            </a:extLst>
          </p:cNvPr>
          <p:cNvCxnSpPr>
            <a:stCxn id="31" idx="3"/>
          </p:cNvCxnSpPr>
          <p:nvPr/>
        </p:nvCxnSpPr>
        <p:spPr>
          <a:xfrm>
            <a:off x="4473167" y="1675277"/>
            <a:ext cx="5308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39F682A-BBCC-36C3-9C27-773954D59382}"/>
              </a:ext>
            </a:extLst>
          </p:cNvPr>
          <p:cNvSpPr txBox="1"/>
          <p:nvPr/>
        </p:nvSpPr>
        <p:spPr>
          <a:xfrm>
            <a:off x="5005594" y="1493140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开发者不再需要了解实现虚拟内存的底层硬件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0C401D-7AF0-49DE-2E70-932E4C4F1076}"/>
              </a:ext>
            </a:extLst>
          </p:cNvPr>
          <p:cNvSpPr/>
          <p:nvPr/>
        </p:nvSpPr>
        <p:spPr>
          <a:xfrm>
            <a:off x="1164772" y="1977964"/>
            <a:ext cx="350520" cy="1632857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2F6F6-961E-5A43-309C-9723A0869607}"/>
              </a:ext>
            </a:extLst>
          </p:cNvPr>
          <p:cNvSpPr txBox="1"/>
          <p:nvPr/>
        </p:nvSpPr>
        <p:spPr>
          <a:xfrm rot="5400000">
            <a:off x="950928" y="262167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byte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8EFDA7A1-8974-83AE-83A7-20706BE9D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956629"/>
              </p:ext>
            </p:extLst>
          </p:nvPr>
        </p:nvGraphicFramePr>
        <p:xfrm>
          <a:off x="896983" y="3829694"/>
          <a:ext cx="10398033" cy="208931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074416">
                  <a:extLst>
                    <a:ext uri="{9D8B030D-6E8A-4147-A177-3AD203B41FA5}">
                      <a16:colId xmlns:a16="http://schemas.microsoft.com/office/drawing/2014/main" val="3447029493"/>
                    </a:ext>
                  </a:extLst>
                </a:gridCol>
                <a:gridCol w="2774539">
                  <a:extLst>
                    <a:ext uri="{9D8B030D-6E8A-4147-A177-3AD203B41FA5}">
                      <a16:colId xmlns:a16="http://schemas.microsoft.com/office/drawing/2014/main" val="1138206949"/>
                    </a:ext>
                  </a:extLst>
                </a:gridCol>
                <a:gridCol w="2774539">
                  <a:extLst>
                    <a:ext uri="{9D8B030D-6E8A-4147-A177-3AD203B41FA5}">
                      <a16:colId xmlns:a16="http://schemas.microsoft.com/office/drawing/2014/main" val="1633333715"/>
                    </a:ext>
                  </a:extLst>
                </a:gridCol>
                <a:gridCol w="2774539">
                  <a:extLst>
                    <a:ext uri="{9D8B030D-6E8A-4147-A177-3AD203B41FA5}">
                      <a16:colId xmlns:a16="http://schemas.microsoft.com/office/drawing/2014/main" val="3149333429"/>
                    </a:ext>
                  </a:extLst>
                </a:gridCol>
              </a:tblGrid>
              <a:tr h="696437"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ea typeface="SimHe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字长（虚拟地址的位数）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虚拟地址空间</a:t>
                      </a:r>
                      <a:endParaRPr lang="en-US" altLang="zh-CN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（数组的索引范围）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虚拟内存大小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890984"/>
                  </a:ext>
                </a:extLst>
              </a:tr>
              <a:tr h="696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 位程序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{0,1,…, 2</a:t>
                      </a:r>
                      <a:r>
                        <a:rPr lang="en-US" altLang="zh-CN" sz="18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-1}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8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bytes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43631"/>
                  </a:ext>
                </a:extLst>
              </a:tr>
              <a:tr h="6964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64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 位程序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{0, 1, …, 2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-1}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8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bytes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085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68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5" grpId="0"/>
      <p:bldP spid="36" grpId="0" animBg="1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5D0C-86BB-8043-9E7D-8D93E538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8480B-AD5F-BA40-82A1-2990A0C60BFB}"/>
              </a:ext>
            </a:extLst>
          </p:cNvPr>
          <p:cNvSpPr txBox="1"/>
          <p:nvPr/>
        </p:nvSpPr>
        <p:spPr>
          <a:xfrm>
            <a:off x="268437" y="648101"/>
            <a:ext cx="7897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大端法与小端法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47254C-E90E-5C45-B022-D613E03D75CB}"/>
              </a:ext>
            </a:extLst>
          </p:cNvPr>
          <p:cNvSpPr txBox="1"/>
          <p:nvPr/>
        </p:nvSpPr>
        <p:spPr>
          <a:xfrm>
            <a:off x="317424" y="1306624"/>
            <a:ext cx="8953941" cy="2122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作用</a:t>
            </a:r>
            <a:r>
              <a:rPr kumimoji="1"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位置：只针对存放在</a:t>
            </a:r>
            <a:r>
              <a:rPr kumimoji="1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虚拟内存</a:t>
            </a:r>
            <a:r>
              <a:rPr kumimoji="1"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中的数据</a:t>
            </a:r>
            <a:endParaRPr kumimoji="1"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作用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对象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多字节对象（如整数、浮点数、结构体、联合）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单字节对象（如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字符（串）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）和大小端无关</a:t>
            </a:r>
            <a:endParaRPr kumimoji="1" lang="en-US" altLang="zh-CN" dirty="0">
              <a:solidFill>
                <a:srgbClr val="FF0000"/>
              </a:solidFill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一个字节内部 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8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个位的排列顺序需不需要考虑大端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小端？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029F48-1752-364E-8ED0-DA0CEBD964D1}"/>
              </a:ext>
            </a:extLst>
          </p:cNvPr>
          <p:cNvSpPr txBox="1"/>
          <p:nvPr/>
        </p:nvSpPr>
        <p:spPr>
          <a:xfrm>
            <a:off x="317424" y="3429000"/>
            <a:ext cx="6972838" cy="12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各种机器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系统的字节存储顺序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大端法：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Sun, PPC Mac, Internet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小端法：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x86(Linux, …), ARM (Android, iOS, Windows...)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AD2893-7C47-FCE3-2466-AA834853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20" y="1356681"/>
            <a:ext cx="8822559" cy="414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7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7B8E7-B1CA-05C0-9870-0CF0EE76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601FC0-0C34-F460-26C3-E8C1A1AFF0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b="156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3176DF-8004-33E6-43C3-40DDF74F3241}"/>
              </a:ext>
            </a:extLst>
          </p:cNvPr>
          <p:cNvSpPr txBox="1"/>
          <p:nvPr/>
        </p:nvSpPr>
        <p:spPr>
          <a:xfrm>
            <a:off x="481475" y="2809391"/>
            <a:ext cx="36118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kumimoji="1"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kumimoji="1" lang="zh-CN" alt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:)</a:t>
            </a:r>
            <a:endParaRPr kumimoji="1"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1511D-64EA-0E65-E144-754BE90CC87A}"/>
              </a:ext>
            </a:extLst>
          </p:cNvPr>
          <p:cNvSpPr txBox="1"/>
          <p:nvPr/>
        </p:nvSpPr>
        <p:spPr>
          <a:xfrm>
            <a:off x="545483" y="364038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数据类型转换下周讲</a:t>
            </a:r>
          </a:p>
        </p:txBody>
      </p:sp>
    </p:spTree>
    <p:extLst>
      <p:ext uri="{BB962C8B-B14F-4D97-AF65-F5344CB8AC3E}">
        <p14:creationId xmlns:p14="http://schemas.microsoft.com/office/powerpoint/2010/main" val="242284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3510</TotalTime>
  <Words>1908</Words>
  <Application>Microsoft Macintosh PowerPoint</Application>
  <PresentationFormat>Widescreen</PresentationFormat>
  <Paragraphs>411</Paragraphs>
  <Slides>30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 Light</vt:lpstr>
      <vt:lpstr>Consolas</vt:lpstr>
      <vt:lpstr>Calibri</vt:lpstr>
      <vt:lpstr>Cambria Math</vt:lpstr>
      <vt:lpstr>Wingdings</vt:lpstr>
      <vt:lpstr>SimHei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沛雨 刘</cp:lastModifiedBy>
  <cp:revision>179</cp:revision>
  <dcterms:created xsi:type="dcterms:W3CDTF">2024-09-08T14:28:50Z</dcterms:created>
  <dcterms:modified xsi:type="dcterms:W3CDTF">2026-09-16T04:42:16Z</dcterms:modified>
</cp:coreProperties>
</file>