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06" r:id="rId3"/>
    <p:sldId id="257" r:id="rId4"/>
    <p:sldId id="259" r:id="rId5"/>
    <p:sldId id="261" r:id="rId6"/>
    <p:sldId id="292" r:id="rId7"/>
    <p:sldId id="309" r:id="rId8"/>
    <p:sldId id="263" r:id="rId9"/>
    <p:sldId id="308" r:id="rId10"/>
    <p:sldId id="266" r:id="rId11"/>
    <p:sldId id="276" r:id="rId12"/>
    <p:sldId id="307" r:id="rId13"/>
    <p:sldId id="310" r:id="rId14"/>
  </p:sldIdLst>
  <p:sldSz cx="12192000" cy="6858000"/>
  <p:notesSz cx="6858000" cy="9144000"/>
  <p:embeddedFontLst>
    <p:embeddedFont>
      <p:font typeface="SimHei" panose="02010609060101010101" pitchFamily="49" charset="-122"/>
      <p:regular r:id="rId16"/>
    </p:embeddedFont>
  </p:embeddedFontLst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2"/>
    <p:restoredTop sz="96327"/>
  </p:normalViewPr>
  <p:slideViewPr>
    <p:cSldViewPr snapToGrid="0" snapToObjects="1">
      <p:cViewPr varScale="1">
        <p:scale>
          <a:sx n="123" d="100"/>
          <a:sy n="123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1B53-5E44-B1F6-E159A7CAF35C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1B53-5E44-B1F6-E159A7CAF35C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1B53-5E44-B1F6-E159A7CAF35C}"/>
              </c:ext>
            </c:extLst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1B53-5E44-B1F6-E159A7CAF35C}"/>
              </c:ext>
            </c:extLst>
          </c:dPt>
          <c:dPt>
            <c:idx val="4"/>
            <c:bubble3D val="0"/>
            <c:spPr>
              <a:pattFill prst="ltUpDiag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5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A-1B53-5E44-B1F6-E159A7CAF35C}"/>
              </c:ext>
            </c:extLst>
          </c:dPt>
          <c:dLbls>
            <c:dLbl>
              <c:idx val="0"/>
              <c:layout>
                <c:manualLayout>
                  <c:x val="-0.18050312768719756"/>
                  <c:y val="-1.507051670164049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53-5E44-B1F6-E159A7CAF35C}"/>
                </c:ext>
              </c:extLst>
            </c:dLbl>
            <c:dLbl>
              <c:idx val="1"/>
              <c:layout>
                <c:manualLayout>
                  <c:x val="-2.7740815053364582E-2"/>
                  <c:y val="-0.18483614739657725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53-5E44-B1F6-E159A7CAF35C}"/>
                </c:ext>
              </c:extLst>
            </c:dLbl>
            <c:dLbl>
              <c:idx val="3"/>
              <c:layout>
                <c:manualLayout>
                  <c:x val="0.22026893051644775"/>
                  <c:y val="4.606875744764635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53-5E44-B1F6-E159A7CAF35C}"/>
                </c:ext>
              </c:extLst>
            </c:dLbl>
            <c:dLbl>
              <c:idx val="4"/>
              <c:layout>
                <c:manualLayout>
                  <c:x val="-8.5246421285133794E-2"/>
                  <c:y val="0.20899551682062747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B53-5E44-B1F6-E159A7CAF3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defRPr>
                </a:pPr>
                <a:endParaRPr lang="en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小班课</c:v>
                </c:pt>
                <c:pt idx="1">
                  <c:v>Lab</c:v>
                </c:pt>
                <c:pt idx="2">
                  <c:v>大班课出勤</c:v>
                </c:pt>
                <c:pt idx="3">
                  <c:v>两次阶段测验</c:v>
                </c:pt>
                <c:pt idx="4">
                  <c:v>期末考试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30</c:v>
                </c:pt>
                <c:pt idx="2">
                  <c:v>5</c:v>
                </c:pt>
                <c:pt idx="3">
                  <c:v>20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53-5E44-B1F6-E159A7CAF35C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67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02C3-EB43-9143-E6B74B2DE43D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02C3-EB43-9143-E6B74B2DE43D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02C3-EB43-9143-E6B74B2DE43D}"/>
              </c:ext>
            </c:extLst>
          </c:dPt>
          <c:dLbls>
            <c:dLbl>
              <c:idx val="0"/>
              <c:layout>
                <c:manualLayout>
                  <c:x val="-0.23928358387019805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baseline="0" dirty="0"/>
                      <a:t>回课
</a:t>
                    </a:r>
                    <a:fld id="{F8B052D2-AD78-424C-A3C0-4D884A9E9803}" type="PERCENTAGE">
                      <a:rPr lang="en-US" altLang="zh-CN" baseline="0"/>
                      <a:pPr/>
                      <a:t>[PERCENTAGE]</a:t>
                    </a:fld>
                    <a:endParaRPr lang="zh-CN" altLang="en-US" baseline="0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2C3-EB43-9143-E6B74B2DE43D}"/>
                </c:ext>
              </c:extLst>
            </c:dLbl>
            <c:dLbl>
              <c:idx val="1"/>
              <c:layout>
                <c:manualLayout>
                  <c:x val="0.11156167979002619"/>
                  <c:y val="-0.1820991388384118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C3-EB43-9143-E6B74B2DE43D}"/>
                </c:ext>
              </c:extLst>
            </c:dLbl>
            <c:dLbl>
              <c:idx val="2"/>
              <c:layout>
                <c:manualLayout>
                  <c:x val="0.2134926031973276"/>
                  <c:y val="0.17596617539241047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baseline="0" dirty="0"/>
                      <a:t>课堂讨论
</a:t>
                    </a:r>
                    <a:fld id="{15258DFF-9370-E440-B32D-3DF00EB31F61}" type="PERCENTAGE">
                      <a:rPr lang="en-US" altLang="zh-CN" baseline="0"/>
                      <a:pPr/>
                      <a:t>[PERCENTAGE]</a:t>
                    </a:fld>
                    <a:endParaRPr lang="zh-CN" altLang="en-US" baseline="0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02C3-EB43-9143-E6B74B2DE4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+mn-cs"/>
                  </a:defRPr>
                </a:pPr>
                <a:endParaRPr lang="en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回课</c:v>
                </c:pt>
                <c:pt idx="1">
                  <c:v>出勤</c:v>
                </c:pt>
                <c:pt idx="2">
                  <c:v>作业和讨论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C3-EB43-9143-E6B74B2DE43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2234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96D04-6896-E5CC-6FFB-15FD14FF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2FCFF-57BE-E968-8F31-E6867E744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A7D40-AF9E-8EAE-1B6E-82557304A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1686E-AB52-9FB8-5822-6E8873B5A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3772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19B4-23B1-C3E4-5736-EEC8C9D6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33EBF-2A63-1F5F-D992-BE6F1DF4B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7FCC3-AF6D-072E-7525-9C55883A4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EB33E-F499-43C3-EEE5-390315356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4365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EE1FB-1D42-57BE-882A-C50CD514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65B08-2A6B-F66D-99D6-B30D9CAD2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9B3FA-2C99-7144-7D02-31D5E91C5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96397-688D-3BAD-8575-C8645842E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56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FB854-D26F-7D37-CA43-61947769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2D40A-0A26-8251-A111-206527DE1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79BCB-A3F7-9BD9-9AED-1BACB33B4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66331-D2E4-B4D0-FCCC-6F8036ACD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332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454-CBC5-0844-8E76-C6E28BA84909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6404-DCAA-A44D-9657-B605F185714F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B659-EDE0-AD4D-9A19-F97575D3A86B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7E15-EF90-A04C-9E8D-7D87F5B3144A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5F99-32E8-AE48-9E4E-C28EA4F528EC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6F4D-5BFF-3547-AC37-787533AFDFEE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F076-A352-7F4B-AE9D-7D5DD7B99B48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F480-957E-A74F-87D5-CE10A0880AFC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01469-409E-374F-A2C0-11933171BF7B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FEA7-8E1E-3748-B5F1-ACBF6673B8E4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FD00C-90CD-4E48-A64B-1F5FC61CCF5A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A9B15-69A7-A145-AC80-8CA66F579BF2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hyperlink" Target="https://github.com/vwOvOwv/2026Fall-ICS-T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5E843C-0436-727B-8482-46634BD764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3580" b="120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A06C44D-EF52-3E45-B5A7-9F0C333C3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450" y="1785688"/>
            <a:ext cx="5044076" cy="708354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Introduction to Computer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CC64B-AD48-88DB-9C61-0EA64AE80924}"/>
              </a:ext>
            </a:extLst>
          </p:cNvPr>
          <p:cNvSpPr txBox="1"/>
          <p:nvPr/>
        </p:nvSpPr>
        <p:spPr>
          <a:xfrm>
            <a:off x="490450" y="785356"/>
            <a:ext cx="3211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5400" b="1" dirty="0">
                <a:latin typeface="Arial" panose="020B0604020202020204" pitchFamily="34" charset="0"/>
                <a:cs typeface="Arial" panose="020B0604020202020204" pitchFamily="34" charset="0"/>
              </a:rPr>
              <a:t>Welcome</a:t>
            </a:r>
            <a:endParaRPr kumimoji="1" lang="zh-CN" altLang="en-US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20123-038F-2AF6-DF4C-E29E5F94779D}"/>
              </a:ext>
            </a:extLst>
          </p:cNvPr>
          <p:cNvSpPr txBox="1"/>
          <p:nvPr/>
        </p:nvSpPr>
        <p:spPr>
          <a:xfrm>
            <a:off x="490450" y="2452771"/>
            <a:ext cx="2170787" cy="958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2026 Fall @ PKU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Section 2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phic 11">
            <a:hlinkClick r:id="rId4"/>
            <a:extLst>
              <a:ext uri="{FF2B5EF4-FFF2-40B4-BE49-F238E27FC236}">
                <a16:creationId xmlns:a16="http://schemas.microsoft.com/office/drawing/2014/main" id="{B014E7C2-46EE-A3F1-EC82-D46C1F93F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1103" y="6357157"/>
            <a:ext cx="385849" cy="38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39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7D9D-1A66-AB04-9C17-50A071EED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C6840B-7648-B888-0235-295E8DE265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3580" b="120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1943EA-935B-0D14-BB57-B03906DBD7EF}"/>
              </a:ext>
            </a:extLst>
          </p:cNvPr>
          <p:cNvSpPr txBox="1"/>
          <p:nvPr/>
        </p:nvSpPr>
        <p:spPr>
          <a:xfrm>
            <a:off x="473825" y="2817703"/>
            <a:ext cx="35910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Hi, there!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👋</a:t>
            </a:r>
            <a:endParaRPr kumimoji="1" lang="zh-CN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84CFE-DF61-810E-7D09-AEA8C1B83F98}"/>
              </a:ext>
            </a:extLst>
          </p:cNvPr>
          <p:cNvSpPr txBox="1"/>
          <p:nvPr/>
        </p:nvSpPr>
        <p:spPr>
          <a:xfrm>
            <a:off x="473825" y="364870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自我介绍与课程介绍</a:t>
            </a:r>
          </a:p>
        </p:txBody>
      </p:sp>
    </p:spTree>
    <p:extLst>
      <p:ext uri="{BB962C8B-B14F-4D97-AF65-F5344CB8AC3E}">
        <p14:creationId xmlns:p14="http://schemas.microsoft.com/office/powerpoint/2010/main" val="20696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EF2CED-2ED9-6F75-9BD8-2E0188B14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72"/>
          <a:stretch>
            <a:fillRect/>
          </a:stretch>
        </p:blipFill>
        <p:spPr>
          <a:xfrm>
            <a:off x="6338870" y="733505"/>
            <a:ext cx="4467675" cy="46448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465410-6D6D-680A-D551-605E7B9100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34" b="16484"/>
          <a:stretch>
            <a:fillRect/>
          </a:stretch>
        </p:blipFill>
        <p:spPr>
          <a:xfrm>
            <a:off x="1808431" y="1388226"/>
            <a:ext cx="4319022" cy="39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6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C7D4569-B53C-5B45-99B4-B6E52CA83956}"/>
              </a:ext>
            </a:extLst>
          </p:cNvPr>
          <p:cNvSpPr txBox="1">
            <a:spLocks/>
          </p:cNvSpPr>
          <p:nvPr/>
        </p:nvSpPr>
        <p:spPr>
          <a:xfrm>
            <a:off x="268438" y="1447799"/>
            <a:ext cx="6975642" cy="52335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锻炼提问能力</a:t>
            </a:r>
            <a:endParaRPr lang="en-US" altLang="zh-CN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重复上一个人的名字，结合 </a:t>
            </a:r>
            <a:r>
              <a:rPr lang="en-US" altLang="zh-CN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ta</a:t>
            </a: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的介绍，向 </a:t>
            </a:r>
            <a:r>
              <a:rPr lang="en-US" altLang="zh-CN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ta</a:t>
            </a: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提一个问题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得到回答后继续自我介绍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介绍完成后把自己的名字写在黑板上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从助教开始，到助教结束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姓名和专业</a:t>
            </a:r>
            <a:endParaRPr lang="en-US" altLang="zh-CN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兴趣爱好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家乡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家乡特色小吃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家乡名胜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你经常出现在（校园的）哪个地方</a:t>
            </a:r>
            <a:endParaRPr lang="en-US" altLang="zh-CN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任何和你有关的有趣的事或经历</a:t>
            </a:r>
            <a:endParaRPr lang="en-US" altLang="zh-CN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……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23817C8-2878-BB41-B7D1-D9A5CEC6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你有哪些让你一秒变开心的表情包？ - 知乎">
            <a:extLst>
              <a:ext uri="{FF2B5EF4-FFF2-40B4-BE49-F238E27FC236}">
                <a16:creationId xmlns:a16="http://schemas.microsoft.com/office/drawing/2014/main" id="{0D98CCEA-FA38-FC48-BC20-FA6853006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420" y="1980089"/>
            <a:ext cx="3286760" cy="328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DEF7F9-BB0C-9C4D-977F-577A88ACA189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CN" sz="3200" dirty="0">
                <a:latin typeface="SimHei" panose="02010609060101010101" pitchFamily="49" charset="-122"/>
                <a:ea typeface="SimHei" panose="02010609060101010101" pitchFamily="49" charset="-122"/>
              </a:rPr>
              <a:t>自我介绍</a:t>
            </a:r>
            <a:endParaRPr kumimoji="1" lang="zh-CN" altLang="en-US" sz="32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556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13">
            <a:extLst>
              <a:ext uri="{FF2B5EF4-FFF2-40B4-BE49-F238E27FC236}">
                <a16:creationId xmlns:a16="http://schemas.microsoft.com/office/drawing/2014/main" id="{10945331-F725-3742-A04A-9F1A21B41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040" y="3003276"/>
            <a:ext cx="573771" cy="765905"/>
          </a:xfrm>
          <a:prstGeom prst="rect">
            <a:avLst/>
          </a:prstGeom>
        </p:spPr>
      </p:pic>
      <p:pic>
        <p:nvPicPr>
          <p:cNvPr id="10" name="Picture 2" descr="https://pic.baike.soso.com/ugc/baikepic2/5252/20180506094416-559174815_jpg_600_420_38290.jpg/0">
            <a:extLst>
              <a:ext uri="{FF2B5EF4-FFF2-40B4-BE49-F238E27FC236}">
                <a16:creationId xmlns:a16="http://schemas.microsoft.com/office/drawing/2014/main" id="{2B43591C-C009-C747-877C-0DC6B00E9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294" y="1198247"/>
            <a:ext cx="2429035" cy="170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5">
            <a:extLst>
              <a:ext uri="{FF2B5EF4-FFF2-40B4-BE49-F238E27FC236}">
                <a16:creationId xmlns:a16="http://schemas.microsoft.com/office/drawing/2014/main" id="{FE992547-EFFE-4A42-B5C9-4B0BDD3746D7}"/>
              </a:ext>
            </a:extLst>
          </p:cNvPr>
          <p:cNvSpPr/>
          <p:nvPr/>
        </p:nvSpPr>
        <p:spPr>
          <a:xfrm>
            <a:off x="2703892" y="1869176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学习 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ICS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前</a:t>
            </a:r>
          </a:p>
        </p:txBody>
      </p:sp>
      <p:pic>
        <p:nvPicPr>
          <p:cNvPr id="12" name="图片 7">
            <a:extLst>
              <a:ext uri="{FF2B5EF4-FFF2-40B4-BE49-F238E27FC236}">
                <a16:creationId xmlns:a16="http://schemas.microsoft.com/office/drawing/2014/main" id="{86D2389C-32E1-8343-A677-835854160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726" y="3907639"/>
            <a:ext cx="1518166" cy="2279655"/>
          </a:xfrm>
          <a:prstGeom prst="rect">
            <a:avLst/>
          </a:prstGeom>
        </p:spPr>
      </p:pic>
      <p:pic>
        <p:nvPicPr>
          <p:cNvPr id="13" name="Picture 4" descr="https://ss.csdn.net/p?http://mmbiz.qpic.cn/mmbiz_jpg/tMJtfgIIibWKZYKDK8JKIhD29hNgWB6VLSGTxp2TnCS3lAfw0qO6flvAESG50eB0ibfVfSJo10QZ28n7iceUuGtmQ/640?wx_fmt=jpeg&amp;wxfrom=5&amp;wx_lazy=1">
            <a:extLst>
              <a:ext uri="{FF2B5EF4-FFF2-40B4-BE49-F238E27FC236}">
                <a16:creationId xmlns:a16="http://schemas.microsoft.com/office/drawing/2014/main" id="{3D8E3F1A-2282-A242-91B1-9EBF3619C0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0" t="6024" r="5027" b="11581"/>
          <a:stretch/>
        </p:blipFill>
        <p:spPr bwMode="auto">
          <a:xfrm>
            <a:off x="3100941" y="3907639"/>
            <a:ext cx="4426809" cy="227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9">
            <a:extLst>
              <a:ext uri="{FF2B5EF4-FFF2-40B4-BE49-F238E27FC236}">
                <a16:creationId xmlns:a16="http://schemas.microsoft.com/office/drawing/2014/main" id="{FEFF4196-7C20-C743-9F87-B8248A8E723B}"/>
              </a:ext>
            </a:extLst>
          </p:cNvPr>
          <p:cNvSpPr/>
          <p:nvPr/>
        </p:nvSpPr>
        <p:spPr>
          <a:xfrm>
            <a:off x="4787989" y="3108347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学习 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ICS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的过程中</a:t>
            </a:r>
          </a:p>
        </p:txBody>
      </p:sp>
      <p:sp>
        <p:nvSpPr>
          <p:cNvPr id="15" name="左大括号 10">
            <a:extLst>
              <a:ext uri="{FF2B5EF4-FFF2-40B4-BE49-F238E27FC236}">
                <a16:creationId xmlns:a16="http://schemas.microsoft.com/office/drawing/2014/main" id="{4F05C6FF-F2F2-6F4F-BA22-93188B875EDA}"/>
              </a:ext>
            </a:extLst>
          </p:cNvPr>
          <p:cNvSpPr/>
          <p:nvPr/>
        </p:nvSpPr>
        <p:spPr bwMode="auto">
          <a:xfrm rot="5400000">
            <a:off x="5644634" y="-496463"/>
            <a:ext cx="369333" cy="8305802"/>
          </a:xfrm>
          <a:prstGeom prst="leftBrace">
            <a:avLst>
              <a:gd name="adj1" fmla="val 53171"/>
              <a:gd name="adj2" fmla="val 50000"/>
            </a:avLst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6" name="图片 12">
            <a:extLst>
              <a:ext uri="{FF2B5EF4-FFF2-40B4-BE49-F238E27FC236}">
                <a16:creationId xmlns:a16="http://schemas.microsoft.com/office/drawing/2014/main" id="{4B175512-E240-8847-9980-EFED66F08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4016" y="1232548"/>
            <a:ext cx="1481556" cy="1617896"/>
          </a:xfrm>
          <a:prstGeom prst="rect">
            <a:avLst/>
          </a:prstGeom>
        </p:spPr>
      </p:pic>
      <p:pic>
        <p:nvPicPr>
          <p:cNvPr id="17" name="Picture 6" descr="为了服务器不再宕机，老板请来了茅山道士做符">
            <a:extLst>
              <a:ext uri="{FF2B5EF4-FFF2-40B4-BE49-F238E27FC236}">
                <a16:creationId xmlns:a16="http://schemas.microsoft.com/office/drawing/2014/main" id="{6B6082A3-9D99-D943-95A5-8EE71CD1A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3907639"/>
            <a:ext cx="3647446" cy="227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1F06031-8E35-E84F-885F-6F384C9A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8574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5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EFDE2-87F8-1F43-9A47-54269963DFBA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关于 </a:t>
            </a:r>
            <a:r>
              <a:rPr kumimoji="1" lang="en-US" altLang="zh-CN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ICS</a:t>
            </a:r>
            <a:endParaRPr kumimoji="1" lang="zh-CN" altLang="en-US" sz="3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48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1F06031-8E35-E84F-885F-6F384C9A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8574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6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EFDE2-87F8-1F43-9A47-54269963DFBA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分数构成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005EFB-11D3-914C-AC3E-C5C175B6C4D4}"/>
              </a:ext>
            </a:extLst>
          </p:cNvPr>
          <p:cNvGrpSpPr/>
          <p:nvPr/>
        </p:nvGrpSpPr>
        <p:grpSpPr>
          <a:xfrm>
            <a:off x="928403" y="1524423"/>
            <a:ext cx="10335193" cy="3992033"/>
            <a:chOff x="904307" y="1432983"/>
            <a:chExt cx="10335193" cy="3992033"/>
          </a:xfrm>
        </p:grpSpPr>
        <p:graphicFrame>
          <p:nvGraphicFramePr>
            <p:cNvPr id="20" name="Chart 19">
              <a:extLst>
                <a:ext uri="{FF2B5EF4-FFF2-40B4-BE49-F238E27FC236}">
                  <a16:creationId xmlns:a16="http://schemas.microsoft.com/office/drawing/2014/main" id="{A0A1C3CE-5189-F44C-9B4B-28CA580A10E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63115748"/>
                </p:ext>
              </p:extLst>
            </p:nvPr>
          </p:nvGraphicFramePr>
          <p:xfrm>
            <a:off x="904307" y="1432983"/>
            <a:ext cx="5930900" cy="39920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22" name="Chart 21">
              <a:extLst>
                <a:ext uri="{FF2B5EF4-FFF2-40B4-BE49-F238E27FC236}">
                  <a16:creationId xmlns:a16="http://schemas.microsoft.com/office/drawing/2014/main" id="{EBB2E8B6-37E6-9242-A56D-951568D8576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57735995"/>
                </p:ext>
              </p:extLst>
            </p:nvPr>
          </p:nvGraphicFramePr>
          <p:xfrm>
            <a:off x="6210300" y="1930400"/>
            <a:ext cx="5029200" cy="33062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BF94F1-DBE0-5E44-BFDF-9EC5C3E52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7119" y="2186247"/>
              <a:ext cx="2651760" cy="5403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9FE8DB2-497E-E640-9584-65B75ABC2C00}"/>
                </a:ext>
              </a:extLst>
            </p:cNvPr>
            <p:cNvCxnSpPr>
              <a:cxnSpLocks/>
            </p:cNvCxnSpPr>
            <p:nvPr/>
          </p:nvCxnSpPr>
          <p:spPr>
            <a:xfrm>
              <a:off x="5470617" y="4380807"/>
              <a:ext cx="2951018" cy="6784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153572C-AB15-B645-8478-F2F904F659DB}"/>
              </a:ext>
            </a:extLst>
          </p:cNvPr>
          <p:cNvSpPr txBox="1"/>
          <p:nvPr/>
        </p:nvSpPr>
        <p:spPr>
          <a:xfrm>
            <a:off x="2417946" y="5642169"/>
            <a:ext cx="7356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﻿注：可能会根据实际教学情况对成绩评定比例进行适度调整</a:t>
            </a:r>
          </a:p>
        </p:txBody>
      </p:sp>
    </p:spTree>
    <p:extLst>
      <p:ext uri="{BB962C8B-B14F-4D97-AF65-F5344CB8AC3E}">
        <p14:creationId xmlns:p14="http://schemas.microsoft.com/office/powerpoint/2010/main" val="46515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9E96F-5D5A-074E-11FC-367E8CBE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A4574ED-4AEE-7EEF-9EC2-9C476C75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1152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A80DC-47B4-5DA7-276F-666531A688D7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小班课流程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D1F8D-FA28-2F76-54E4-2CED43AC7B2E}"/>
              </a:ext>
            </a:extLst>
          </p:cNvPr>
          <p:cNvSpPr txBox="1"/>
          <p:nvPr/>
        </p:nvSpPr>
        <p:spPr>
          <a:xfrm>
            <a:off x="268438" y="1296786"/>
            <a:ext cx="10552954" cy="41935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回课（约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20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min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人一组，共 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8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组，可自由组队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每组回课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3 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次，每次时长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8 – 10 min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基于上周四和本周一的大班课内容，可</a:t>
            </a:r>
            <a:r>
              <a:rPr kumimoji="1" lang="zh-CN" alt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自拟主题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首次回课禁止仅使用 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PPT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，要求使用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AI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制作部分回课内容并展示，以生动有趣、吸引听众为佳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处理器运行过程的交互式页面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命中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kumimoji="1" lang="zh-CN" altLang="en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不命中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驱逐过程的可视化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课程知识问答网站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与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ICS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相关的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AI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知识：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GPU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架构，模型量化，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Flash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Attention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KV-Cache 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优化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…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重在参与和尝试 </a:t>
            </a:r>
            <a:r>
              <a:rPr kumimoji="1"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:)</a:t>
            </a:r>
          </a:p>
        </p:txBody>
      </p:sp>
    </p:spTree>
    <p:extLst>
      <p:ext uri="{BB962C8B-B14F-4D97-AF65-F5344CB8AC3E}">
        <p14:creationId xmlns:p14="http://schemas.microsoft.com/office/powerpoint/2010/main" val="345965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CF37EA3-D010-0D48-BD71-3CC2253B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1152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9CCAB-DC75-5044-B051-8B8933EB8138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小班课流程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4A142-DCD0-7FB8-1666-162EDF50B310}"/>
              </a:ext>
            </a:extLst>
          </p:cNvPr>
          <p:cNvSpPr txBox="1"/>
          <p:nvPr/>
        </p:nvSpPr>
        <p:spPr>
          <a:xfrm>
            <a:off x="268438" y="1296786"/>
            <a:ext cx="8090676" cy="4195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课堂讨论（约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30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min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基于上周四和本周一的大班研讨题与作业题，每周共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x 3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题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每道题由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个小组主持讨论，每组主持讨论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9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次，每次时长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–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5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分钟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从题目中选取部分小题讲解，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无需准备 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PPT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等材料，口头交流即可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建议</a:t>
            </a:r>
            <a:r>
              <a:rPr kumimoji="1" lang="zh-CN" altLang="en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不要在同一周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同时回课和主持讨论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助教讲解（约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50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min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帮助大家梳理总体思路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根据大家的反馈讲解部分具体知识点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以上均为初步安排，后续</a:t>
            </a:r>
            <a:r>
              <a:rPr kumimoji="1" lang="zh-CN" alt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视情况进行调整</a:t>
            </a:r>
            <a:endParaRPr kumimoji="1" lang="zh-CN" alt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C0651E-D165-9AE3-6792-A0E5DD5BC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673" y="1232876"/>
            <a:ext cx="2038004" cy="20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7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8D6F2-B3AE-1EFC-4071-5C6C1D2D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5813A9-6A2A-D3EB-DEA4-CA2697DF33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3580" b="120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872793-2C6F-33F3-5C57-5DA95988EF29}"/>
              </a:ext>
            </a:extLst>
          </p:cNvPr>
          <p:cNvSpPr txBox="1"/>
          <p:nvPr/>
        </p:nvSpPr>
        <p:spPr>
          <a:xfrm>
            <a:off x="473825" y="2809391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课程注意事项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BE7E6-3C86-E057-AFC6-B48D60E44982}"/>
              </a:ext>
            </a:extLst>
          </p:cNvPr>
          <p:cNvSpPr txBox="1"/>
          <p:nvPr/>
        </p:nvSpPr>
        <p:spPr>
          <a:xfrm>
            <a:off x="473825" y="364038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大班课、小班课与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Lab</a:t>
            </a:r>
            <a:endParaRPr kumimoji="1" lang="zh-CN" alt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25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BA878896-AB97-AD46-B52E-A0C02BC23FF9}"/>
              </a:ext>
            </a:extLst>
          </p:cNvPr>
          <p:cNvSpPr txBox="1">
            <a:spLocks/>
          </p:cNvSpPr>
          <p:nvPr/>
        </p:nvSpPr>
        <p:spPr>
          <a:xfrm>
            <a:off x="268438" y="1334475"/>
            <a:ext cx="7930340" cy="54154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大班课：可能会有不定期考勤，讲座记得去听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小班课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无故缺勤会扣分，请假提前和助教联系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助教的自我管理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（一定）不迟到，（尽量）不拖堂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不鼓励刻意内卷，但也不要摆烂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尽量维持轻松愉快的氛围，不给予大家额外压力</a:t>
            </a:r>
            <a:endParaRPr lang="en-US" alt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8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Lab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严禁抄袭任何已有代码（有强大的</a:t>
            </a:r>
            <a:r>
              <a:rPr kumimoji="0" lang="zh-CN" alt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查重机制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禁止不经任何思考的 </a:t>
            </a:r>
            <a:r>
              <a:rPr lang="en-US" altLang="zh-CN" sz="18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vibe</a:t>
            </a:r>
            <a:r>
              <a:rPr lang="zh-CN" altLang="en-US" sz="18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coding</a:t>
            </a:r>
            <a:r>
              <a:rPr lang="zh-CN" altLang="en-US" sz="18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（有 </a:t>
            </a:r>
            <a:r>
              <a:rPr lang="en-US" altLang="zh-CN" sz="18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lab quiz</a:t>
            </a:r>
            <a:r>
              <a:rPr lang="zh-CN" altLang="en-US" sz="1800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800" dirty="0">
              <a:solidFill>
                <a:prstClr val="black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Data Lab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due: 9.28 8:00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，不要卡点提交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87B2A6A-7D2C-5546-9CEA-85FF4658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6E6E33-097A-F543-8AE0-1A74D73B548C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注意事项</a:t>
            </a:r>
          </a:p>
        </p:txBody>
      </p:sp>
      <p:pic>
        <p:nvPicPr>
          <p:cNvPr id="3" name="Picture 8" descr="有较强的自我管理意识（狗子咬着狗绳自己过马路）_自我管理_狗子_马路_意识_自己表情">
            <a:extLst>
              <a:ext uri="{FF2B5EF4-FFF2-40B4-BE49-F238E27FC236}">
                <a16:creationId xmlns:a16="http://schemas.microsoft.com/office/drawing/2014/main" id="{8357D01E-C5CD-65F6-4352-0E80A1FD3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631" y="2086712"/>
            <a:ext cx="4139951" cy="26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58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B2C29-6C36-CC44-A825-1EB7BA0CADF3}"/>
              </a:ext>
            </a:extLst>
          </p:cNvPr>
          <p:cNvSpPr txBox="1"/>
          <p:nvPr/>
        </p:nvSpPr>
        <p:spPr>
          <a:xfrm>
            <a:off x="3190975" y="2551837"/>
            <a:ext cx="5810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i="1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  <a:p>
            <a:pPr algn="ctr"/>
            <a:r>
              <a:rPr kumimoji="1" lang="en-US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Ask me anything </a:t>
            </a:r>
            <a:r>
              <a:rPr kumimoji="1" lang="en-US" altLang="zh-CN" sz="5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:)</a:t>
            </a:r>
            <a:endParaRPr kumimoji="1" lang="zh-CN" alt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44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D8ABA-BB94-AD16-85F3-D4EA04A9A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005AEA-531C-03CF-6771-3C722901BC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3580" b="120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0DBD88-2F6E-3B9C-28CE-6855D591F792}"/>
              </a:ext>
            </a:extLst>
          </p:cNvPr>
          <p:cNvSpPr txBox="1"/>
          <p:nvPr/>
        </p:nvSpPr>
        <p:spPr>
          <a:xfrm>
            <a:off x="473825" y="2817703"/>
            <a:ext cx="39148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Lab </a:t>
            </a:r>
            <a:r>
              <a:rPr kumimoji="1" lang="zh-CN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入门教程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02952-E4E9-99BB-5C6A-ECFC5228FA82}"/>
              </a:ext>
            </a:extLst>
          </p:cNvPr>
          <p:cNvSpPr txBox="1"/>
          <p:nvPr/>
        </p:nvSpPr>
        <p:spPr>
          <a:xfrm>
            <a:off x="473825" y="3648700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环境配置、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Linux 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基础（以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Data Lab 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为例）</a:t>
            </a:r>
          </a:p>
        </p:txBody>
      </p:sp>
    </p:spTree>
    <p:extLst>
      <p:ext uri="{BB962C8B-B14F-4D97-AF65-F5344CB8AC3E}">
        <p14:creationId xmlns:p14="http://schemas.microsoft.com/office/powerpoint/2010/main" val="87749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A846F-26D2-4D38-8513-98943CA4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A67279-BE4A-0B56-A990-81F80F93BE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3580" b="120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071361-4B8C-B99A-2B62-D4F21073E848}"/>
              </a:ext>
            </a:extLst>
          </p:cNvPr>
          <p:cNvSpPr txBox="1"/>
          <p:nvPr/>
        </p:nvSpPr>
        <p:spPr>
          <a:xfrm>
            <a:off x="473825" y="2817703"/>
            <a:ext cx="38507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Thank you :)</a:t>
            </a:r>
            <a:endParaRPr kumimoji="1" lang="zh-CN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24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549</Words>
  <Application>Microsoft Macintosh PowerPoint</Application>
  <PresentationFormat>Widescreen</PresentationFormat>
  <Paragraphs>80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 Light</vt:lpstr>
      <vt:lpstr>Calibri</vt:lpstr>
      <vt:lpstr>Wingdings</vt:lpstr>
      <vt:lpstr>SimHei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沛雨 刘</cp:lastModifiedBy>
  <cp:revision>102</cp:revision>
  <dcterms:created xsi:type="dcterms:W3CDTF">2024-09-08T14:28:50Z</dcterms:created>
  <dcterms:modified xsi:type="dcterms:W3CDTF">2026-09-16T04:50:57Z</dcterms:modified>
</cp:coreProperties>
</file>